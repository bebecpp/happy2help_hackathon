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Тусламж хэрэгтэй үед… (2 секунд түр зогс) …хүүхэд хэнд хандах вэ? Нэг хүүхэд тусламж хэрэгтэй гэдгээ мэдэж байна. Харин хэнд хэлэхээ, яаж хэлэхээ мэдэхгүй байна.</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Мэдээлэх нь эхлэл. Харин тусламж үнэхээр хүрсэн үү? Гурван асуулт байна. Хэн сонсох вэ? Хэн хариулах вэ? Дараа нь юу болох вэ? Сурагч мэдээлнэ, зөв насанд хүрэгч хүлээж авах ёстой, сурагч хүлээж авсныг мэдэх ёстой. Өнөөдөр энэ гурав ихэвчлэн тасарсан байдаг.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why we built… Happy2Help. (Нэрийг хэлээд 2 секунд түр зогс.) Хүүхэд бүр сонсогдох эрхтэй.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Нэг дохионоос бодит тусламж хүртэл. Сурагч мэдээлнэ, байршлаа сонгоно. Багш хүлээн авна, тусламжийг зохион байгуулна. Сурагч явцаа харна. Таван алхам, нэг урсгал. Энэ бол бодит дэлгэцүүд.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Одоо бодитоор үзүүлье. (ХӨТӨЧ РҮҮ ШИЛЖИНЭ — 80–90 секунд.) Тэмүүлэн апп-аа нээнэ. Байршлаа сонгоно эсвэл гарын үсэгтэй QR холбоосоор орно. Яаралтай SOS илгээнэ. Уянга багшийн самбарт ирнэ. Багш хүлээн авснаа батална. Хариуцагч томилно. Сурагч, багш мессеж солилцоно. Сурагч статусаа харна. (Бүх хэрэглэгч зохиомол.)</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Тусламж бол зөвхөн нэг товч биш. Happy Connect: сурагч, багшийн харилцаа. Happy Care: эмч, нийгмийн ажилтан. Happy Patrol: сурагчдын аюулгүй ээлж. Happy Council: сурагчдын оролцоо, санал. Happy AI: Gemma 4 зөвхөн багшид санал өгнө, шийдвэрийг хүн гаргана.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Зүгээр нэг санаа биш. 48-аас 48 end-to-end тест. 15-аас 15 амьд smoke шалгалт. SOS, хүлээн авалт, томилолт, хамгаалагдсан мессеж бүгд хадгалагдана. Сургуулиар хязгаарласан эрх, сөрөг тестүүд. Серверээр баталгаажсан гарын үсэгтэй QR. Gemma 4-ийн бодит дүгнэлт тусад нь баталгаажсан. Шударгаар: локал тест, production үйлчилгээ биш, erxes gateway холболт хүлээгдэж байна.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Эхэнд бид асуусан: тусламж хэрэгтэй үед хүүхэд хэнд хандах вэ? Хариулт нь: хэн нэгэн сонсоход бүх зүйл өөрчлөгдөж эхэлдэг. Хүүхэд бүр сонсогдох эрхтэй. Happy2Help. Баярлалаа.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C3A"/>
        </a:solidFill>
        <a:effectLst/>
      </p:bgPr>
    </p:bg>
    <p:spTree>
      <p:nvGrpSpPr>
        <p:cNvPr id="1" name=""/>
        <p:cNvGrpSpPr/>
        <p:nvPr/>
      </p:nvGrpSpPr>
      <p:grpSpPr/>
      <p:sp>
        <p:nvSpPr>
          <p:cNvPr id="2" name="TextBox 1"/>
          <p:cNvSpPr txBox="1"/>
          <p:nvPr/>
        </p:nvSpPr>
        <p:spPr>
          <a:xfrm>
            <a:off x="1016000" y="2095500"/>
            <a:ext cx="7620000" cy="825500"/>
          </a:xfrm>
          <a:prstGeom prst="rect">
            <a:avLst/>
          </a:prstGeom>
          <a:noFill/>
        </p:spPr>
        <p:txBody>
          <a:bodyPr wrap="square" lIns="0" rIns="0" tIns="0" bIns="0" anchor="t">
            <a:spAutoFit/>
          </a:bodyPr>
          <a:lstStyle/>
          <a:p>
            <a:pPr algn="l">
              <a:lnSpc>
                <a:spcPct val="115000"/>
              </a:lnSpc>
            </a:pPr>
            <a:r>
              <a:rPr sz="6300" b="0">
                <a:solidFill>
                  <a:srgbClr val="FFFFFF"/>
                </a:solidFill>
                <a:latin typeface="Segoe UI"/>
              </a:rPr>
              <a:t>Тусламж хэрэгтэй үед…</a:t>
            </a:r>
          </a:p>
        </p:txBody>
      </p:sp>
      <p:sp>
        <p:nvSpPr>
          <p:cNvPr id="3" name="TextBox 2"/>
          <p:cNvSpPr txBox="1"/>
          <p:nvPr/>
        </p:nvSpPr>
        <p:spPr>
          <a:xfrm>
            <a:off x="1016000" y="2984500"/>
            <a:ext cx="8255000" cy="952500"/>
          </a:xfrm>
          <a:prstGeom prst="rect">
            <a:avLst/>
          </a:prstGeom>
          <a:noFill/>
        </p:spPr>
        <p:txBody>
          <a:bodyPr wrap="square" lIns="0" rIns="0" tIns="0" bIns="0" anchor="t">
            <a:spAutoFit/>
          </a:bodyPr>
          <a:lstStyle/>
          <a:p>
            <a:pPr algn="l">
              <a:lnSpc>
                <a:spcPct val="115000"/>
              </a:lnSpc>
            </a:pPr>
            <a:r>
              <a:rPr sz="7200" b="1">
                <a:solidFill>
                  <a:srgbClr val="FFFFFF"/>
                </a:solidFill>
                <a:latin typeface="Segoe UI"/>
              </a:rPr>
              <a:t>Хүүхэд хэнд хандах вэ?</a:t>
            </a:r>
          </a:p>
        </p:txBody>
      </p:sp>
      <p:sp>
        <p:nvSpPr>
          <p:cNvPr id="4" name="Oval 3"/>
          <p:cNvSpPr/>
          <p:nvPr/>
        </p:nvSpPr>
        <p:spPr>
          <a:xfrm>
            <a:off x="9017000" y="3175000"/>
            <a:ext cx="762000" cy="762000"/>
          </a:xfrm>
          <a:prstGeom prst="ellipse">
            <a:avLst/>
          </a:prstGeom>
          <a:noFill/>
          <a:ln w="28575">
            <a:solidFill>
              <a:srgbClr val="2D67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36000" y="2794000"/>
            <a:ext cx="1524000" cy="1524000"/>
          </a:xfrm>
          <a:prstGeom prst="ellipse">
            <a:avLst/>
          </a:prstGeom>
          <a:noFill/>
          <a:ln w="19050">
            <a:solidFill>
              <a:srgbClr val="2D67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191500" y="2349500"/>
            <a:ext cx="2413000" cy="2413000"/>
          </a:xfrm>
          <a:prstGeom prst="ellipse">
            <a:avLst/>
          </a:prstGeom>
          <a:noFill/>
          <a:ln w="9525">
            <a:solidFill>
              <a:srgbClr val="2D67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309100" y="3467100"/>
            <a:ext cx="177800" cy="177800"/>
          </a:xfrm>
          <a:prstGeom prst="ellipse">
            <a:avLst/>
          </a:prstGeom>
          <a:solidFill>
            <a:srgbClr val="5B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6000" y="5969000"/>
            <a:ext cx="5715000" cy="254000"/>
          </a:xfrm>
          <a:prstGeom prst="rect">
            <a:avLst/>
          </a:prstGeom>
          <a:noFill/>
        </p:spPr>
        <p:txBody>
          <a:bodyPr wrap="square" lIns="0" rIns="0" tIns="0" bIns="0" anchor="t">
            <a:spAutoFit/>
          </a:bodyPr>
          <a:lstStyle/>
          <a:p>
            <a:pPr algn="l">
              <a:lnSpc>
                <a:spcPct val="115000"/>
              </a:lnSpc>
            </a:pPr>
            <a:r>
              <a:rPr sz="1800" b="0">
                <a:solidFill>
                  <a:srgbClr val="8FA3BC"/>
                </a:solidFill>
                <a:latin typeface="Segoe UI"/>
              </a:rPr>
              <a:t>Хариугүй үлдсэн дохио.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2D5B"/>
        </a:solidFill>
        <a:effectLst/>
      </p:bgPr>
    </p:bg>
    <p:spTree>
      <p:nvGrpSpPr>
        <p:cNvPr id="1" name=""/>
        <p:cNvGrpSpPr/>
        <p:nvPr/>
      </p:nvGrpSpPr>
      <p:grpSpPr/>
      <p:sp>
        <p:nvSpPr>
          <p:cNvPr id="2" name="TextBox 1"/>
          <p:cNvSpPr txBox="1"/>
          <p:nvPr/>
        </p:nvSpPr>
        <p:spPr>
          <a:xfrm>
            <a:off x="1016000" y="952500"/>
            <a:ext cx="10160000" cy="1397000"/>
          </a:xfrm>
          <a:prstGeom prst="rect">
            <a:avLst/>
          </a:prstGeom>
          <a:noFill/>
        </p:spPr>
        <p:txBody>
          <a:bodyPr wrap="square" lIns="0" rIns="0" tIns="0" bIns="0" anchor="t">
            <a:spAutoFit/>
          </a:bodyPr>
          <a:lstStyle/>
          <a:p>
            <a:pPr algn="l">
              <a:lnSpc>
                <a:spcPct val="115000"/>
              </a:lnSpc>
            </a:pPr>
            <a:r>
              <a:rPr sz="4800" b="1">
                <a:solidFill>
                  <a:srgbClr val="FFFFFF"/>
                </a:solidFill>
                <a:latin typeface="Segoe UI"/>
              </a:rPr>
              <a:t>Мэдээлэх нь эхлэл.</a:t>
            </a:r>
          </a:p>
          <a:p>
            <a:pPr algn="l">
              <a:lnSpc>
                <a:spcPct val="115000"/>
              </a:lnSpc>
            </a:pPr>
            <a:r>
              <a:rPr sz="4800" b="1">
                <a:solidFill>
                  <a:srgbClr val="FFFFFF"/>
                </a:solidFill>
                <a:latin typeface="Segoe UI"/>
              </a:rPr>
              <a:t>Харин тусламж үнэхээр хүрсэн үү?</a:t>
            </a:r>
          </a:p>
        </p:txBody>
      </p:sp>
      <p:sp>
        <p:nvSpPr>
          <p:cNvPr id="3" name="Rounded Rectangle 2"/>
          <p:cNvSpPr/>
          <p:nvPr/>
        </p:nvSpPr>
        <p:spPr>
          <a:xfrm>
            <a:off x="1016000" y="2921000"/>
            <a:ext cx="3175000" cy="2413000"/>
          </a:xfrm>
          <a:prstGeom prst="roundRect">
            <a:avLst>
              <a:gd name="adj" fmla="val 7368"/>
            </a:avLst>
          </a:prstGeom>
          <a:solidFill>
            <a:srgbClr val="123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08500" y="2921000"/>
            <a:ext cx="3175000" cy="2413000"/>
          </a:xfrm>
          <a:prstGeom prst="roundRect">
            <a:avLst>
              <a:gd name="adj" fmla="val 7368"/>
            </a:avLst>
          </a:prstGeom>
          <a:solidFill>
            <a:srgbClr val="123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01000" y="2921000"/>
            <a:ext cx="3175000" cy="2413000"/>
          </a:xfrm>
          <a:prstGeom prst="roundRect">
            <a:avLst>
              <a:gd name="adj" fmla="val 7368"/>
            </a:avLst>
          </a:prstGeom>
          <a:solidFill>
            <a:srgbClr val="123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70000" y="3175000"/>
            <a:ext cx="2667000" cy="635000"/>
          </a:xfrm>
          <a:prstGeom prst="rect">
            <a:avLst/>
          </a:prstGeom>
          <a:noFill/>
        </p:spPr>
        <p:txBody>
          <a:bodyPr wrap="square" lIns="0" rIns="0" tIns="0" bIns="0" anchor="t">
            <a:spAutoFit/>
          </a:bodyPr>
          <a:lstStyle/>
          <a:p>
            <a:pPr algn="l">
              <a:lnSpc>
                <a:spcPct val="115000"/>
              </a:lnSpc>
            </a:pPr>
            <a:r>
              <a:rPr sz="3000" b="1">
                <a:solidFill>
                  <a:srgbClr val="FFFFFF"/>
                </a:solidFill>
                <a:latin typeface="Segoe UI"/>
              </a:rPr>
              <a:t>Хэн сонсох вэ?</a:t>
            </a:r>
          </a:p>
        </p:txBody>
      </p:sp>
      <p:sp>
        <p:nvSpPr>
          <p:cNvPr id="7" name="TextBox 6"/>
          <p:cNvSpPr txBox="1"/>
          <p:nvPr/>
        </p:nvSpPr>
        <p:spPr>
          <a:xfrm>
            <a:off x="1270000" y="3937000"/>
            <a:ext cx="2667000" cy="1143000"/>
          </a:xfrm>
          <a:prstGeom prst="rect">
            <a:avLst/>
          </a:prstGeom>
          <a:noFill/>
        </p:spPr>
        <p:txBody>
          <a:bodyPr wrap="square" lIns="0" rIns="0" tIns="0" bIns="0" anchor="t">
            <a:spAutoFit/>
          </a:bodyPr>
          <a:lstStyle/>
          <a:p>
            <a:pPr algn="l">
              <a:lnSpc>
                <a:spcPct val="115000"/>
              </a:lnSpc>
            </a:pPr>
            <a:r>
              <a:rPr sz="1950" b="0">
                <a:solidFill>
                  <a:srgbClr val="C9D8EE"/>
                </a:solidFill>
                <a:latin typeface="Segoe UI"/>
              </a:rPr>
              <a:t>Сурагч айдастай, хэнд хэлэхээ мэдэхгүй.</a:t>
            </a:r>
          </a:p>
        </p:txBody>
      </p:sp>
      <p:sp>
        <p:nvSpPr>
          <p:cNvPr id="8" name="TextBox 7"/>
          <p:cNvSpPr txBox="1"/>
          <p:nvPr/>
        </p:nvSpPr>
        <p:spPr>
          <a:xfrm>
            <a:off x="4762500" y="3175000"/>
            <a:ext cx="2667000" cy="635000"/>
          </a:xfrm>
          <a:prstGeom prst="rect">
            <a:avLst/>
          </a:prstGeom>
          <a:noFill/>
        </p:spPr>
        <p:txBody>
          <a:bodyPr wrap="square" lIns="0" rIns="0" tIns="0" bIns="0" anchor="t">
            <a:spAutoFit/>
          </a:bodyPr>
          <a:lstStyle/>
          <a:p>
            <a:pPr algn="l">
              <a:lnSpc>
                <a:spcPct val="115000"/>
              </a:lnSpc>
            </a:pPr>
            <a:r>
              <a:rPr sz="3000" b="1">
                <a:solidFill>
                  <a:srgbClr val="FFFFFF"/>
                </a:solidFill>
                <a:latin typeface="Segoe UI"/>
              </a:rPr>
              <a:t>Хэн хариулах вэ?</a:t>
            </a:r>
          </a:p>
        </p:txBody>
      </p:sp>
      <p:sp>
        <p:nvSpPr>
          <p:cNvPr id="9" name="TextBox 8"/>
          <p:cNvSpPr txBox="1"/>
          <p:nvPr/>
        </p:nvSpPr>
        <p:spPr>
          <a:xfrm>
            <a:off x="4762500" y="3937000"/>
            <a:ext cx="2667000" cy="1143000"/>
          </a:xfrm>
          <a:prstGeom prst="rect">
            <a:avLst/>
          </a:prstGeom>
          <a:noFill/>
        </p:spPr>
        <p:txBody>
          <a:bodyPr wrap="square" lIns="0" rIns="0" tIns="0" bIns="0" anchor="t">
            <a:spAutoFit/>
          </a:bodyPr>
          <a:lstStyle/>
          <a:p>
            <a:pPr algn="l">
              <a:lnSpc>
                <a:spcPct val="115000"/>
              </a:lnSpc>
            </a:pPr>
            <a:r>
              <a:rPr sz="1950" b="0">
                <a:solidFill>
                  <a:srgbClr val="C9D8EE"/>
                </a:solidFill>
                <a:latin typeface="Segoe UI"/>
              </a:rPr>
              <a:t>Зөв насанд хүрэгч мэдээллийг цаг алдалгүй авах ёстой.</a:t>
            </a:r>
          </a:p>
        </p:txBody>
      </p:sp>
      <p:sp>
        <p:nvSpPr>
          <p:cNvPr id="10" name="TextBox 9"/>
          <p:cNvSpPr txBox="1"/>
          <p:nvPr/>
        </p:nvSpPr>
        <p:spPr>
          <a:xfrm>
            <a:off x="8255000" y="3175000"/>
            <a:ext cx="2667000" cy="635000"/>
          </a:xfrm>
          <a:prstGeom prst="rect">
            <a:avLst/>
          </a:prstGeom>
          <a:noFill/>
        </p:spPr>
        <p:txBody>
          <a:bodyPr wrap="square" lIns="0" rIns="0" tIns="0" bIns="0" anchor="t">
            <a:spAutoFit/>
          </a:bodyPr>
          <a:lstStyle/>
          <a:p>
            <a:pPr algn="l">
              <a:lnSpc>
                <a:spcPct val="115000"/>
              </a:lnSpc>
            </a:pPr>
            <a:r>
              <a:rPr sz="3000" b="1">
                <a:solidFill>
                  <a:srgbClr val="FFFFFF"/>
                </a:solidFill>
                <a:latin typeface="Segoe UI"/>
              </a:rPr>
              <a:t>Дараа нь юу болох вэ?</a:t>
            </a:r>
          </a:p>
        </p:txBody>
      </p:sp>
      <p:sp>
        <p:nvSpPr>
          <p:cNvPr id="11" name="TextBox 10"/>
          <p:cNvSpPr txBox="1"/>
          <p:nvPr/>
        </p:nvSpPr>
        <p:spPr>
          <a:xfrm>
            <a:off x="8255000" y="3937000"/>
            <a:ext cx="2667000" cy="1143000"/>
          </a:xfrm>
          <a:prstGeom prst="rect">
            <a:avLst/>
          </a:prstGeom>
          <a:noFill/>
        </p:spPr>
        <p:txBody>
          <a:bodyPr wrap="square" lIns="0" rIns="0" tIns="0" bIns="0" anchor="t">
            <a:spAutoFit/>
          </a:bodyPr>
          <a:lstStyle/>
          <a:p>
            <a:pPr algn="l">
              <a:lnSpc>
                <a:spcPct val="115000"/>
              </a:lnSpc>
            </a:pPr>
            <a:r>
              <a:rPr sz="1950" b="0">
                <a:solidFill>
                  <a:srgbClr val="C9D8EE"/>
                </a:solidFill>
                <a:latin typeface="Segoe UI"/>
              </a:rPr>
              <a:t>Сурагч хүлээж авсныг, хэн хариуцаж байгааг мэдэх ёстой.</a:t>
            </a:r>
          </a:p>
        </p:txBody>
      </p:sp>
      <p:sp>
        <p:nvSpPr>
          <p:cNvPr id="12" name="TextBox 11"/>
          <p:cNvSpPr txBox="1"/>
          <p:nvPr/>
        </p:nvSpPr>
        <p:spPr>
          <a:xfrm>
            <a:off x="1016000" y="5905500"/>
            <a:ext cx="10160000" cy="317500"/>
          </a:xfrm>
          <a:prstGeom prst="rect">
            <a:avLst/>
          </a:prstGeom>
          <a:noFill/>
        </p:spPr>
        <p:txBody>
          <a:bodyPr wrap="square" lIns="0" rIns="0" tIns="0" bIns="0" anchor="t">
            <a:spAutoFit/>
          </a:bodyPr>
          <a:lstStyle/>
          <a:p>
            <a:pPr algn="l">
              <a:lnSpc>
                <a:spcPct val="115000"/>
              </a:lnSpc>
            </a:pPr>
            <a:r>
              <a:rPr sz="1950" b="0">
                <a:solidFill>
                  <a:srgbClr val="8FA3BC"/>
                </a:solidFill>
                <a:latin typeface="Segoe UI"/>
              </a:rPr>
              <a:t>Эдгээр гурван холбоос тасрахад мэдээлэл замдаа алга болдог.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1587500"/>
            <a:ext cx="6985000" cy="444500"/>
          </a:xfrm>
          <a:prstGeom prst="rect">
            <a:avLst/>
          </a:prstGeom>
          <a:noFill/>
        </p:spPr>
        <p:txBody>
          <a:bodyPr wrap="square" lIns="0" rIns="0" tIns="0" bIns="0" anchor="t">
            <a:spAutoFit/>
          </a:bodyPr>
          <a:lstStyle/>
          <a:p>
            <a:pPr algn="l">
              <a:lnSpc>
                <a:spcPct val="115000"/>
              </a:lnSpc>
            </a:pPr>
            <a:r>
              <a:rPr sz="2700" b="1" spc="450">
                <a:solidFill>
                  <a:srgbClr val="2D67B5"/>
                </a:solidFill>
                <a:latin typeface="Segoe UI"/>
              </a:rPr>
              <a:t>THAT'S WHY WE BUILT…</a:t>
            </a:r>
          </a:p>
        </p:txBody>
      </p:sp>
      <p:pic>
        <p:nvPicPr>
          <p:cNvPr id="3" name="Picture 2" descr="wordmark.png"/>
          <p:cNvPicPr>
            <a:picLocks noChangeAspect="1"/>
          </p:cNvPicPr>
          <p:nvPr/>
        </p:nvPicPr>
        <p:blipFill>
          <a:blip r:embed="rId2"/>
          <a:stretch>
            <a:fillRect/>
          </a:stretch>
        </p:blipFill>
        <p:spPr>
          <a:xfrm>
            <a:off x="1018333" y="2286000"/>
            <a:ext cx="5710335" cy="1943100"/>
          </a:xfrm>
          <a:prstGeom prst="rect">
            <a:avLst/>
          </a:prstGeom>
        </p:spPr>
      </p:pic>
      <p:pic>
        <p:nvPicPr>
          <p:cNvPr id="4" name="Picture 3" descr="mascot.png"/>
          <p:cNvPicPr>
            <a:picLocks noChangeAspect="1"/>
          </p:cNvPicPr>
          <p:nvPr/>
        </p:nvPicPr>
        <p:blipFill>
          <a:blip r:embed="rId3"/>
          <a:stretch>
            <a:fillRect/>
          </a:stretch>
        </p:blipFill>
        <p:spPr>
          <a:xfrm>
            <a:off x="7937707" y="1397000"/>
            <a:ext cx="3301586" cy="3816350"/>
          </a:xfrm>
          <a:prstGeom prst="rect">
            <a:avLst/>
          </a:prstGeom>
        </p:spPr>
      </p:pic>
      <p:sp>
        <p:nvSpPr>
          <p:cNvPr id="5" name="TextBox 4"/>
          <p:cNvSpPr txBox="1"/>
          <p:nvPr/>
        </p:nvSpPr>
        <p:spPr>
          <a:xfrm>
            <a:off x="1016000" y="4699000"/>
            <a:ext cx="6985000" cy="635000"/>
          </a:xfrm>
          <a:prstGeom prst="rect">
            <a:avLst/>
          </a:prstGeom>
          <a:noFill/>
        </p:spPr>
        <p:txBody>
          <a:bodyPr wrap="square" lIns="0" rIns="0" tIns="0" bIns="0" anchor="t">
            <a:spAutoFit/>
          </a:bodyPr>
          <a:lstStyle/>
          <a:p>
            <a:pPr algn="l">
              <a:lnSpc>
                <a:spcPct val="115000"/>
              </a:lnSpc>
            </a:pPr>
            <a:r>
              <a:rPr sz="4200" b="1">
                <a:solidFill>
                  <a:srgbClr val="0F2D5B"/>
                </a:solidFill>
                <a:latin typeface="Segoe UI"/>
              </a:rPr>
              <a:t>Хүүхэд бүр сонсогдох эрхтэй.</a:t>
            </a:r>
          </a:p>
        </p:txBody>
      </p:sp>
      <p:sp>
        <p:nvSpPr>
          <p:cNvPr id="6" name="TextBox 5"/>
          <p:cNvSpPr txBox="1"/>
          <p:nvPr/>
        </p:nvSpPr>
        <p:spPr>
          <a:xfrm>
            <a:off x="1016000" y="5461000"/>
            <a:ext cx="6350000" cy="254000"/>
          </a:xfrm>
          <a:prstGeom prst="rect">
            <a:avLst/>
          </a:prstGeom>
          <a:noFill/>
        </p:spPr>
        <p:txBody>
          <a:bodyPr wrap="square" lIns="0" rIns="0" tIns="0" bIns="0" anchor="t">
            <a:spAutoFit/>
          </a:bodyPr>
          <a:lstStyle/>
          <a:p>
            <a:pPr algn="l">
              <a:lnSpc>
                <a:spcPct val="115000"/>
              </a:lnSpc>
            </a:pPr>
            <a:r>
              <a:rPr sz="1650" b="0">
                <a:solidFill>
                  <a:srgbClr val="8FA3BC"/>
                </a:solidFill>
                <a:latin typeface="Segoe UI"/>
              </a:rPr>
              <a:t>Сургуулийн аюулгүй байдал, итгэлцлийн платформ · erxes plugin · нээлттэй эх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35000"/>
            <a:ext cx="10160000" cy="571500"/>
          </a:xfrm>
          <a:prstGeom prst="rect">
            <a:avLst/>
          </a:prstGeom>
          <a:noFill/>
        </p:spPr>
        <p:txBody>
          <a:bodyPr wrap="square" lIns="0" rIns="0" tIns="0" bIns="0" anchor="t">
            <a:spAutoFit/>
          </a:bodyPr>
          <a:lstStyle/>
          <a:p>
            <a:pPr algn="l">
              <a:lnSpc>
                <a:spcPct val="115000"/>
              </a:lnSpc>
            </a:pPr>
            <a:r>
              <a:rPr sz="4500" b="1">
                <a:solidFill>
                  <a:srgbClr val="0F2D5B"/>
                </a:solidFill>
                <a:latin typeface="Segoe UI"/>
              </a:rPr>
              <a:t>Нэг дохионоос бодит тусламж хүртэл.</a:t>
            </a:r>
          </a:p>
        </p:txBody>
      </p:sp>
      <p:sp>
        <p:nvSpPr>
          <p:cNvPr id="3" name="Rounded Rectangle 2"/>
          <p:cNvSpPr/>
          <p:nvPr/>
        </p:nvSpPr>
        <p:spPr>
          <a:xfrm>
            <a:off x="952500" y="1841500"/>
            <a:ext cx="2019300" cy="4127500"/>
          </a:xfrm>
          <a:prstGeom prst="roundRect">
            <a:avLst>
              <a:gd name="adj" fmla="val 12578"/>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udent-sos-390.png"/>
          <p:cNvPicPr>
            <a:picLocks noChangeAspect="1"/>
          </p:cNvPicPr>
          <p:nvPr/>
        </p:nvPicPr>
        <p:blipFill>
          <a:blip r:embed="rId2"/>
          <a:srcRect b="891"/>
          <a:stretch>
            <a:fillRect/>
          </a:stretch>
        </p:blipFill>
        <p:spPr>
          <a:xfrm>
            <a:off x="1041400" y="1930400"/>
            <a:ext cx="1841500" cy="3949700"/>
          </a:xfrm>
          <a:prstGeom prst="rect">
            <a:avLst/>
          </a:prstGeom>
        </p:spPr>
      </p:pic>
      <p:sp>
        <p:nvSpPr>
          <p:cNvPr id="5" name="TextBox 4"/>
          <p:cNvSpPr txBox="1"/>
          <p:nvPr/>
        </p:nvSpPr>
        <p:spPr>
          <a:xfrm>
            <a:off x="952500" y="6032500"/>
            <a:ext cx="2032000" cy="254000"/>
          </a:xfrm>
          <a:prstGeom prst="rect">
            <a:avLst/>
          </a:prstGeom>
          <a:noFill/>
        </p:spPr>
        <p:txBody>
          <a:bodyPr wrap="square" lIns="0" rIns="0" tIns="0" bIns="0" anchor="t">
            <a:spAutoFit/>
          </a:bodyPr>
          <a:lstStyle/>
          <a:p>
            <a:pPr algn="ctr">
              <a:lnSpc>
                <a:spcPct val="115000"/>
              </a:lnSpc>
            </a:pPr>
            <a:r>
              <a:rPr sz="1500" b="1">
                <a:solidFill>
                  <a:srgbClr val="2D67B5"/>
                </a:solidFill>
                <a:latin typeface="Segoe UI"/>
              </a:rPr>
              <a:t>Сурагч · Яаралтай SOS</a:t>
            </a:r>
          </a:p>
        </p:txBody>
      </p:sp>
      <p:sp>
        <p:nvSpPr>
          <p:cNvPr id="6" name="TextBox 5"/>
          <p:cNvSpPr txBox="1"/>
          <p:nvPr/>
        </p:nvSpPr>
        <p:spPr>
          <a:xfrm>
            <a:off x="3302000" y="3556000"/>
            <a:ext cx="762000" cy="508000"/>
          </a:xfrm>
          <a:prstGeom prst="rect">
            <a:avLst/>
          </a:prstGeom>
          <a:noFill/>
        </p:spPr>
        <p:txBody>
          <a:bodyPr wrap="square" lIns="0" rIns="0" tIns="0" bIns="0" anchor="t">
            <a:spAutoFit/>
          </a:bodyPr>
          <a:lstStyle/>
          <a:p>
            <a:pPr algn="ctr">
              <a:lnSpc>
                <a:spcPct val="115000"/>
              </a:lnSpc>
            </a:pPr>
            <a:r>
              <a:rPr sz="5400" b="1">
                <a:solidFill>
                  <a:srgbClr val="5B9CFF"/>
                </a:solidFill>
                <a:latin typeface="Segoe UI"/>
              </a:rPr>
              <a:t>→</a:t>
            </a:r>
          </a:p>
        </p:txBody>
      </p:sp>
      <p:sp>
        <p:nvSpPr>
          <p:cNvPr id="7" name="Rounded Rectangle 6"/>
          <p:cNvSpPr/>
          <p:nvPr/>
        </p:nvSpPr>
        <p:spPr>
          <a:xfrm>
            <a:off x="4191000" y="1778000"/>
            <a:ext cx="7048500" cy="4343400"/>
          </a:xfrm>
          <a:prstGeom prst="roundRect">
            <a:avLst>
              <a:gd name="adj" fmla="val 2631"/>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staff-dashboard-1440.png"/>
          <p:cNvPicPr>
            <a:picLocks noChangeAspect="1"/>
          </p:cNvPicPr>
          <p:nvPr/>
        </p:nvPicPr>
        <p:blipFill>
          <a:blip r:embed="rId3"/>
          <a:srcRect b="10242"/>
          <a:stretch>
            <a:fillRect/>
          </a:stretch>
        </p:blipFill>
        <p:spPr>
          <a:xfrm>
            <a:off x="4267200" y="1854200"/>
            <a:ext cx="6896100" cy="4191000"/>
          </a:xfrm>
          <a:prstGeom prst="rect">
            <a:avLst/>
          </a:prstGeom>
        </p:spPr>
      </p:pic>
      <p:sp>
        <p:nvSpPr>
          <p:cNvPr id="9" name="TextBox 8"/>
          <p:cNvSpPr txBox="1"/>
          <p:nvPr/>
        </p:nvSpPr>
        <p:spPr>
          <a:xfrm>
            <a:off x="4191000" y="6159500"/>
            <a:ext cx="7048500" cy="254000"/>
          </a:xfrm>
          <a:prstGeom prst="rect">
            <a:avLst/>
          </a:prstGeom>
          <a:noFill/>
        </p:spPr>
        <p:txBody>
          <a:bodyPr wrap="square" lIns="0" rIns="0" tIns="0" bIns="0" anchor="t">
            <a:spAutoFit/>
          </a:bodyPr>
          <a:lstStyle/>
          <a:p>
            <a:pPr algn="ctr">
              <a:lnSpc>
                <a:spcPct val="115000"/>
              </a:lnSpc>
            </a:pPr>
            <a:r>
              <a:rPr sz="1500" b="1">
                <a:solidFill>
                  <a:srgbClr val="2D67B5"/>
                </a:solidFill>
                <a:latin typeface="Segoe UI"/>
              </a:rPr>
              <a:t>Ээлжийн багш · Ирсэн хүсэлтүүд (яаралтай нь улаанаар эхэнд)</a:t>
            </a:r>
          </a:p>
        </p:txBody>
      </p:sp>
      <p:sp>
        <p:nvSpPr>
          <p:cNvPr id="10" name="TextBox 9"/>
          <p:cNvSpPr txBox="1"/>
          <p:nvPr/>
        </p:nvSpPr>
        <p:spPr>
          <a:xfrm>
            <a:off x="1016000" y="1270000"/>
            <a:ext cx="10160000" cy="317500"/>
          </a:xfrm>
          <a:prstGeom prst="rect">
            <a:avLst/>
          </a:prstGeom>
          <a:noFill/>
        </p:spPr>
        <p:txBody>
          <a:bodyPr wrap="square" lIns="0" rIns="0" tIns="0" bIns="0" anchor="t">
            <a:spAutoFit/>
          </a:bodyPr>
          <a:lstStyle/>
          <a:p>
            <a:pPr algn="l">
              <a:lnSpc>
                <a:spcPct val="115000"/>
              </a:lnSpc>
            </a:pPr>
            <a:r>
              <a:rPr sz="1875" b="0">
                <a:solidFill>
                  <a:srgbClr val="173153"/>
                </a:solidFill>
                <a:latin typeface="Segoe UI"/>
              </a:rPr>
              <a:t>Сурагч мэдээлнэ  →  Байршил сонгоно  →  Багш хүлээн авна  →  Тусламж зохион байгуулна  →  Сурагч явцаа харна</a:t>
            </a:r>
          </a:p>
        </p:txBody>
      </p:sp>
      <p:sp>
        <p:nvSpPr>
          <p:cNvPr id="11" name="TextBox 10"/>
          <p:cNvSpPr txBox="1"/>
          <p:nvPr/>
        </p:nvSpPr>
        <p:spPr>
          <a:xfrm>
            <a:off x="1016000" y="6477000"/>
            <a:ext cx="10160000" cy="254000"/>
          </a:xfrm>
          <a:prstGeom prst="rect">
            <a:avLst/>
          </a:prstGeom>
          <a:noFill/>
        </p:spPr>
        <p:txBody>
          <a:bodyPr wrap="square" lIns="0" rIns="0" tIns="0" bIns="0" anchor="t">
            <a:spAutoFit/>
          </a:bodyPr>
          <a:lstStyle/>
          <a:p>
            <a:pPr algn="ctr">
              <a:lnSpc>
                <a:spcPct val="115000"/>
              </a:lnSpc>
            </a:pPr>
            <a:r>
              <a:rPr sz="1800" b="0">
                <a:solidFill>
                  <a:srgbClr val="8FA3BC"/>
                </a:solidFill>
                <a:latin typeface="Segoe UI"/>
              </a:rPr>
              <a:t>See it. Signal safely. Get help.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B"/>
        </a:solidFill>
        <a:effectLst/>
      </p:bgPr>
    </p:bg>
    <p:spTree>
      <p:nvGrpSpPr>
        <p:cNvPr id="1" name=""/>
        <p:cNvGrpSpPr/>
        <p:nvPr/>
      </p:nvGrpSpPr>
      <p:grpSpPr/>
      <p:sp>
        <p:nvSpPr>
          <p:cNvPr id="2" name="TextBox 1"/>
          <p:cNvSpPr txBox="1"/>
          <p:nvPr/>
        </p:nvSpPr>
        <p:spPr>
          <a:xfrm>
            <a:off x="1016000" y="698500"/>
            <a:ext cx="6350000" cy="635000"/>
          </a:xfrm>
          <a:prstGeom prst="rect">
            <a:avLst/>
          </a:prstGeom>
          <a:noFill/>
        </p:spPr>
        <p:txBody>
          <a:bodyPr wrap="square" lIns="0" rIns="0" tIns="0" bIns="0" anchor="t">
            <a:spAutoFit/>
          </a:bodyPr>
          <a:lstStyle/>
          <a:p>
            <a:pPr algn="l">
              <a:lnSpc>
                <a:spcPct val="115000"/>
              </a:lnSpc>
            </a:pPr>
            <a:r>
              <a:rPr sz="5400" b="1">
                <a:solidFill>
                  <a:srgbClr val="0F2D5B"/>
                </a:solidFill>
                <a:latin typeface="Segoe UI"/>
              </a:rPr>
              <a:t>Одоо бодитоор үзүүлье.</a:t>
            </a:r>
          </a:p>
        </p:txBody>
      </p:sp>
      <p:sp>
        <p:nvSpPr>
          <p:cNvPr id="3" name="TextBox 2"/>
          <p:cNvSpPr txBox="1"/>
          <p:nvPr/>
        </p:nvSpPr>
        <p:spPr>
          <a:xfrm>
            <a:off x="1016000" y="1460500"/>
            <a:ext cx="4826000" cy="317500"/>
          </a:xfrm>
          <a:prstGeom prst="rect">
            <a:avLst/>
          </a:prstGeom>
          <a:noFill/>
        </p:spPr>
        <p:txBody>
          <a:bodyPr wrap="square" lIns="0" rIns="0" tIns="0" bIns="0" anchor="t">
            <a:spAutoFit/>
          </a:bodyPr>
          <a:lstStyle/>
          <a:p>
            <a:pPr algn="l">
              <a:lnSpc>
                <a:spcPct val="115000"/>
              </a:lnSpc>
            </a:pPr>
            <a:r>
              <a:rPr sz="1800" b="0">
                <a:solidFill>
                  <a:srgbClr val="8FA3BC"/>
                </a:solidFill>
                <a:latin typeface="Segoe UI"/>
              </a:rPr>
              <a:t>Амьд демо · бодит програм · зохиомол сургууль</a:t>
            </a:r>
          </a:p>
        </p:txBody>
      </p:sp>
      <p:sp>
        <p:nvSpPr>
          <p:cNvPr id="4" name="TextBox 3"/>
          <p:cNvSpPr txBox="1"/>
          <p:nvPr/>
        </p:nvSpPr>
        <p:spPr>
          <a:xfrm>
            <a:off x="1016000" y="2032000"/>
            <a:ext cx="2413000" cy="3302000"/>
          </a:xfrm>
          <a:prstGeom prst="rect">
            <a:avLst/>
          </a:prstGeom>
          <a:noFill/>
        </p:spPr>
        <p:txBody>
          <a:bodyPr wrap="square" lIns="0" rIns="0" tIns="0" bIns="0" anchor="t">
            <a:spAutoFit/>
          </a:bodyPr>
          <a:lstStyle/>
          <a:p>
            <a:pPr algn="l">
              <a:lnSpc>
                <a:spcPct val="125000"/>
              </a:lnSpc>
            </a:pPr>
            <a:r>
              <a:rPr sz="1875" b="0">
                <a:solidFill>
                  <a:srgbClr val="173153"/>
                </a:solidFill>
                <a:latin typeface="Segoe UI"/>
              </a:rPr>
              <a:t>1  Тэмүүлэн Happy2Help-ээ нээнэ</a:t>
            </a:r>
          </a:p>
          <a:p>
            <a:pPr algn="l">
              <a:lnSpc>
                <a:spcPct val="125000"/>
              </a:lnSpc>
            </a:pPr>
            <a:r>
              <a:rPr sz="1875" b="0">
                <a:solidFill>
                  <a:srgbClr val="173153"/>
                </a:solidFill>
                <a:latin typeface="Segoe UI"/>
              </a:rPr>
              <a:t/>
            </a:r>
          </a:p>
          <a:p>
            <a:pPr algn="l">
              <a:lnSpc>
                <a:spcPct val="125000"/>
              </a:lnSpc>
            </a:pPr>
            <a:r>
              <a:rPr sz="1875" b="0">
                <a:solidFill>
                  <a:srgbClr val="173153"/>
                </a:solidFill>
                <a:latin typeface="Segoe UI"/>
              </a:rPr>
              <a:t>2  Байршил сонгоно эсвэл гарын үсэгтэй QR холбоос</a:t>
            </a:r>
          </a:p>
          <a:p>
            <a:pPr algn="l">
              <a:lnSpc>
                <a:spcPct val="125000"/>
              </a:lnSpc>
            </a:pPr>
            <a:r>
              <a:rPr sz="1875" b="0">
                <a:solidFill>
                  <a:srgbClr val="173153"/>
                </a:solidFill>
                <a:latin typeface="Segoe UI"/>
              </a:rPr>
              <a:t/>
            </a:r>
          </a:p>
          <a:p>
            <a:pPr algn="l">
              <a:lnSpc>
                <a:spcPct val="125000"/>
              </a:lnSpc>
            </a:pPr>
            <a:r>
              <a:rPr sz="1875" b="0">
                <a:solidFill>
                  <a:srgbClr val="173153"/>
                </a:solidFill>
                <a:latin typeface="Segoe UI"/>
              </a:rPr>
              <a:t>3  Яаралтай SOS илгээнэ</a:t>
            </a:r>
          </a:p>
          <a:p>
            <a:pPr algn="l">
              <a:lnSpc>
                <a:spcPct val="125000"/>
              </a:lnSpc>
            </a:pPr>
            <a:r>
              <a:rPr sz="1875" b="0">
                <a:solidFill>
                  <a:srgbClr val="173153"/>
                </a:solidFill>
                <a:latin typeface="Segoe UI"/>
              </a:rPr>
              <a:t/>
            </a:r>
          </a:p>
          <a:p>
            <a:pPr algn="l">
              <a:lnSpc>
                <a:spcPct val="125000"/>
              </a:lnSpc>
            </a:pPr>
            <a:r>
              <a:rPr sz="1875" b="0">
                <a:solidFill>
                  <a:srgbClr val="173153"/>
                </a:solidFill>
                <a:latin typeface="Segoe UI"/>
              </a:rPr>
              <a:t>4  Багшийн самбарт хүсэлт ирнэ</a:t>
            </a:r>
          </a:p>
        </p:txBody>
      </p:sp>
      <p:sp>
        <p:nvSpPr>
          <p:cNvPr id="5" name="TextBox 4"/>
          <p:cNvSpPr txBox="1"/>
          <p:nvPr/>
        </p:nvSpPr>
        <p:spPr>
          <a:xfrm>
            <a:off x="3429000" y="2032000"/>
            <a:ext cx="2286000" cy="3302000"/>
          </a:xfrm>
          <a:prstGeom prst="rect">
            <a:avLst/>
          </a:prstGeom>
          <a:noFill/>
        </p:spPr>
        <p:txBody>
          <a:bodyPr wrap="square" lIns="0" rIns="0" tIns="0" bIns="0" anchor="t">
            <a:spAutoFit/>
          </a:bodyPr>
          <a:lstStyle/>
          <a:p>
            <a:pPr algn="l">
              <a:lnSpc>
                <a:spcPct val="125000"/>
              </a:lnSpc>
            </a:pPr>
            <a:r>
              <a:rPr sz="1875" b="0">
                <a:solidFill>
                  <a:srgbClr val="173153"/>
                </a:solidFill>
                <a:latin typeface="Segoe UI"/>
              </a:rPr>
              <a:t>5  Уянга багш хүлээн авснаа батална</a:t>
            </a:r>
          </a:p>
          <a:p>
            <a:pPr algn="l">
              <a:lnSpc>
                <a:spcPct val="125000"/>
              </a:lnSpc>
            </a:pPr>
            <a:r>
              <a:rPr sz="1875" b="0">
                <a:solidFill>
                  <a:srgbClr val="173153"/>
                </a:solidFill>
                <a:latin typeface="Segoe UI"/>
              </a:rPr>
              <a:t/>
            </a:r>
          </a:p>
          <a:p>
            <a:pPr algn="l">
              <a:lnSpc>
                <a:spcPct val="125000"/>
              </a:lnSpc>
            </a:pPr>
            <a:r>
              <a:rPr sz="1875" b="0">
                <a:solidFill>
                  <a:srgbClr val="173153"/>
                </a:solidFill>
                <a:latin typeface="Segoe UI"/>
              </a:rPr>
              <a:t>6  Хариуцагч ажилтан томилогдоно</a:t>
            </a:r>
          </a:p>
          <a:p>
            <a:pPr algn="l">
              <a:lnSpc>
                <a:spcPct val="125000"/>
              </a:lnSpc>
            </a:pPr>
            <a:r>
              <a:rPr sz="1875" b="0">
                <a:solidFill>
                  <a:srgbClr val="173153"/>
                </a:solidFill>
                <a:latin typeface="Segoe UI"/>
              </a:rPr>
              <a:t/>
            </a:r>
          </a:p>
          <a:p>
            <a:pPr algn="l">
              <a:lnSpc>
                <a:spcPct val="125000"/>
              </a:lnSpc>
            </a:pPr>
            <a:r>
              <a:rPr sz="1875" b="0">
                <a:solidFill>
                  <a:srgbClr val="173153"/>
                </a:solidFill>
                <a:latin typeface="Segoe UI"/>
              </a:rPr>
              <a:t>7  Сурагч, багш мессеж солилцоно</a:t>
            </a:r>
          </a:p>
          <a:p>
            <a:pPr algn="l">
              <a:lnSpc>
                <a:spcPct val="125000"/>
              </a:lnSpc>
            </a:pPr>
            <a:r>
              <a:rPr sz="1875" b="0">
                <a:solidFill>
                  <a:srgbClr val="173153"/>
                </a:solidFill>
                <a:latin typeface="Segoe UI"/>
              </a:rPr>
              <a:t/>
            </a:r>
          </a:p>
          <a:p>
            <a:pPr algn="l">
              <a:lnSpc>
                <a:spcPct val="125000"/>
              </a:lnSpc>
            </a:pPr>
            <a:r>
              <a:rPr sz="1875" b="0">
                <a:solidFill>
                  <a:srgbClr val="173153"/>
                </a:solidFill>
                <a:latin typeface="Segoe UI"/>
              </a:rPr>
              <a:t>8  Сурагч шинэчлэгдсэн статусаа харна</a:t>
            </a:r>
          </a:p>
        </p:txBody>
      </p:sp>
      <p:sp>
        <p:nvSpPr>
          <p:cNvPr id="6" name="Rounded Rectangle 5"/>
          <p:cNvSpPr/>
          <p:nvPr/>
        </p:nvSpPr>
        <p:spPr>
          <a:xfrm>
            <a:off x="6350000" y="1841500"/>
            <a:ext cx="5016500" cy="3175000"/>
          </a:xfrm>
          <a:prstGeom prst="roundRect">
            <a:avLst>
              <a:gd name="adj" fmla="val 3599"/>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acher-inbox-1440.png"/>
          <p:cNvPicPr>
            <a:picLocks noChangeAspect="1"/>
          </p:cNvPicPr>
          <p:nvPr/>
        </p:nvPicPr>
        <p:blipFill>
          <a:blip r:embed="rId2"/>
          <a:srcRect b="52"/>
          <a:stretch>
            <a:fillRect/>
          </a:stretch>
        </p:blipFill>
        <p:spPr>
          <a:xfrm>
            <a:off x="6413500" y="1905000"/>
            <a:ext cx="4889500" cy="3054350"/>
          </a:xfrm>
          <a:prstGeom prst="rect">
            <a:avLst/>
          </a:prstGeom>
        </p:spPr>
      </p:pic>
      <p:sp>
        <p:nvSpPr>
          <p:cNvPr id="8" name="Rounded Rectangle 7"/>
          <p:cNvSpPr/>
          <p:nvPr/>
        </p:nvSpPr>
        <p:spPr>
          <a:xfrm>
            <a:off x="6096000" y="3556000"/>
            <a:ext cx="1663700" cy="2984500"/>
          </a:xfrm>
          <a:prstGeom prst="roundRect">
            <a:avLst>
              <a:gd name="adj" fmla="val 12977"/>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udent-home-390.png"/>
          <p:cNvPicPr>
            <a:picLocks noChangeAspect="1"/>
          </p:cNvPicPr>
          <p:nvPr/>
        </p:nvPicPr>
        <p:blipFill>
          <a:blip r:embed="rId3"/>
          <a:srcRect b="13744"/>
          <a:stretch>
            <a:fillRect/>
          </a:stretch>
        </p:blipFill>
        <p:spPr>
          <a:xfrm>
            <a:off x="6165850" y="3625850"/>
            <a:ext cx="1524000" cy="2844800"/>
          </a:xfrm>
          <a:prstGeom prst="rect">
            <a:avLst/>
          </a:prstGeom>
        </p:spPr>
      </p:pic>
      <p:sp>
        <p:nvSpPr>
          <p:cNvPr id="10" name="Rounded Rectangle 9"/>
          <p:cNvSpPr/>
          <p:nvPr/>
        </p:nvSpPr>
        <p:spPr>
          <a:xfrm>
            <a:off x="1016000" y="5715000"/>
            <a:ext cx="4445000" cy="444500"/>
          </a:xfrm>
          <a:prstGeom prst="roundRect">
            <a:avLst>
              <a:gd name="adj" fmla="val 50000"/>
            </a:avLst>
          </a:prstGeom>
          <a:solidFill>
            <a:srgbClr val="0F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6000" y="5715000"/>
            <a:ext cx="4445000" cy="444500"/>
          </a:xfrm>
          <a:prstGeom prst="rect">
            <a:avLst/>
          </a:prstGeom>
          <a:noFill/>
        </p:spPr>
        <p:txBody>
          <a:bodyPr wrap="square" lIns="0" rIns="0" tIns="0" bIns="0" anchor="ctr">
            <a:spAutoFit/>
          </a:bodyPr>
          <a:lstStyle/>
          <a:p>
            <a:pPr algn="ctr">
              <a:lnSpc>
                <a:spcPct val="115000"/>
              </a:lnSpc>
            </a:pPr>
            <a:r>
              <a:rPr sz="1950" b="1">
                <a:solidFill>
                  <a:srgbClr val="FFFFFF"/>
                </a:solidFill>
                <a:latin typeface="Segoe UI"/>
              </a:rPr>
              <a:t>→  Хөтөч рүү шилжинэ · 80–90 сек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35000"/>
            <a:ext cx="10160000" cy="571500"/>
          </a:xfrm>
          <a:prstGeom prst="rect">
            <a:avLst/>
          </a:prstGeom>
          <a:noFill/>
        </p:spPr>
        <p:txBody>
          <a:bodyPr wrap="square" lIns="0" rIns="0" tIns="0" bIns="0" anchor="t">
            <a:spAutoFit/>
          </a:bodyPr>
          <a:lstStyle/>
          <a:p>
            <a:pPr algn="l">
              <a:lnSpc>
                <a:spcPct val="115000"/>
              </a:lnSpc>
            </a:pPr>
            <a:r>
              <a:rPr sz="4500" b="1">
                <a:solidFill>
                  <a:srgbClr val="0F2D5B"/>
                </a:solidFill>
                <a:latin typeface="Segoe UI"/>
              </a:rPr>
              <a:t>Тусламж бол зөвхөн нэг товч биш.</a:t>
            </a:r>
          </a:p>
        </p:txBody>
      </p:sp>
      <p:sp>
        <p:nvSpPr>
          <p:cNvPr id="3" name="TextBox 2"/>
          <p:cNvSpPr txBox="1"/>
          <p:nvPr/>
        </p:nvSpPr>
        <p:spPr>
          <a:xfrm>
            <a:off x="1016000" y="1238250"/>
            <a:ext cx="10160000" cy="317500"/>
          </a:xfrm>
          <a:prstGeom prst="rect">
            <a:avLst/>
          </a:prstGeom>
          <a:noFill/>
        </p:spPr>
        <p:txBody>
          <a:bodyPr wrap="square" lIns="0" rIns="0" tIns="0" bIns="0" anchor="t">
            <a:spAutoFit/>
          </a:bodyPr>
          <a:lstStyle/>
          <a:p>
            <a:pPr algn="l">
              <a:lnSpc>
                <a:spcPct val="115000"/>
              </a:lnSpc>
            </a:pPr>
            <a:r>
              <a:rPr sz="1950" b="0">
                <a:solidFill>
                  <a:srgbClr val="8FA3BC"/>
                </a:solidFill>
                <a:latin typeface="Segoe UI"/>
              </a:rPr>
              <a:t>Сургуулийн нийгэмлэгийг бүхэлд нь дэмжинэ.</a:t>
            </a:r>
          </a:p>
        </p:txBody>
      </p:sp>
      <p:sp>
        <p:nvSpPr>
          <p:cNvPr id="4" name="Rounded Rectangle 3"/>
          <p:cNvSpPr/>
          <p:nvPr/>
        </p:nvSpPr>
        <p:spPr>
          <a:xfrm>
            <a:off x="952500" y="1746250"/>
            <a:ext cx="1841500" cy="3790950"/>
          </a:xfrm>
          <a:prstGeom prst="roundRect">
            <a:avLst>
              <a:gd name="adj" fmla="val 12413"/>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udent-chat-390.png"/>
          <p:cNvPicPr>
            <a:picLocks noChangeAspect="1"/>
          </p:cNvPicPr>
          <p:nvPr/>
        </p:nvPicPr>
        <p:blipFill>
          <a:blip r:embed="rId2"/>
          <a:srcRect b="461"/>
          <a:stretch>
            <a:fillRect/>
          </a:stretch>
        </p:blipFill>
        <p:spPr>
          <a:xfrm>
            <a:off x="1028700" y="1822450"/>
            <a:ext cx="1689100" cy="3638550"/>
          </a:xfrm>
          <a:prstGeom prst="rect">
            <a:avLst/>
          </a:prstGeom>
        </p:spPr>
      </p:pic>
      <p:sp>
        <p:nvSpPr>
          <p:cNvPr id="6" name="TextBox 5"/>
          <p:cNvSpPr txBox="1"/>
          <p:nvPr/>
        </p:nvSpPr>
        <p:spPr>
          <a:xfrm>
            <a:off x="952500" y="5683250"/>
            <a:ext cx="1905000" cy="279400"/>
          </a:xfrm>
          <a:prstGeom prst="rect">
            <a:avLst/>
          </a:prstGeom>
          <a:noFill/>
        </p:spPr>
        <p:txBody>
          <a:bodyPr wrap="square" lIns="0" rIns="0" tIns="0" bIns="0" anchor="t">
            <a:spAutoFit/>
          </a:bodyPr>
          <a:lstStyle/>
          <a:p>
            <a:pPr algn="ctr">
              <a:lnSpc>
                <a:spcPct val="115000"/>
              </a:lnSpc>
            </a:pPr>
            <a:r>
              <a:rPr sz="1950" b="1">
                <a:solidFill>
                  <a:srgbClr val="0F2D5B"/>
                </a:solidFill>
                <a:latin typeface="Segoe UI"/>
              </a:rPr>
              <a:t>Happy Connect</a:t>
            </a:r>
          </a:p>
        </p:txBody>
      </p:sp>
      <p:sp>
        <p:nvSpPr>
          <p:cNvPr id="7" name="TextBox 6"/>
          <p:cNvSpPr txBox="1"/>
          <p:nvPr/>
        </p:nvSpPr>
        <p:spPr>
          <a:xfrm>
            <a:off x="952500" y="5969000"/>
            <a:ext cx="1905000" cy="444500"/>
          </a:xfrm>
          <a:prstGeom prst="rect">
            <a:avLst/>
          </a:prstGeom>
          <a:noFill/>
        </p:spPr>
        <p:txBody>
          <a:bodyPr wrap="square" lIns="0" rIns="0" tIns="0" bIns="0" anchor="t">
            <a:spAutoFit/>
          </a:bodyPr>
          <a:lstStyle/>
          <a:p>
            <a:pPr algn="ctr">
              <a:lnSpc>
                <a:spcPct val="115000"/>
              </a:lnSpc>
            </a:pPr>
            <a:r>
              <a:rPr sz="1425" b="0">
                <a:solidFill>
                  <a:srgbClr val="173153"/>
                </a:solidFill>
                <a:latin typeface="Segoe UI"/>
              </a:rPr>
              <a:t>сурагч, багшийн харилцаа</a:t>
            </a:r>
          </a:p>
        </p:txBody>
      </p:sp>
      <p:sp>
        <p:nvSpPr>
          <p:cNvPr id="8" name="Rounded Rectangle 7"/>
          <p:cNvSpPr/>
          <p:nvPr/>
        </p:nvSpPr>
        <p:spPr>
          <a:xfrm>
            <a:off x="3048000" y="1746250"/>
            <a:ext cx="1841500" cy="3790950"/>
          </a:xfrm>
          <a:prstGeom prst="roundRect">
            <a:avLst>
              <a:gd name="adj" fmla="val 12413"/>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udent-care-390.png"/>
          <p:cNvPicPr>
            <a:picLocks noChangeAspect="1"/>
          </p:cNvPicPr>
          <p:nvPr/>
        </p:nvPicPr>
        <p:blipFill>
          <a:blip r:embed="rId3"/>
          <a:srcRect b="461"/>
          <a:stretch>
            <a:fillRect/>
          </a:stretch>
        </p:blipFill>
        <p:spPr>
          <a:xfrm>
            <a:off x="3124200" y="1822450"/>
            <a:ext cx="1689100" cy="3638550"/>
          </a:xfrm>
          <a:prstGeom prst="rect">
            <a:avLst/>
          </a:prstGeom>
        </p:spPr>
      </p:pic>
      <p:sp>
        <p:nvSpPr>
          <p:cNvPr id="10" name="TextBox 9"/>
          <p:cNvSpPr txBox="1"/>
          <p:nvPr/>
        </p:nvSpPr>
        <p:spPr>
          <a:xfrm>
            <a:off x="3048000" y="5683250"/>
            <a:ext cx="1905000" cy="279400"/>
          </a:xfrm>
          <a:prstGeom prst="rect">
            <a:avLst/>
          </a:prstGeom>
          <a:noFill/>
        </p:spPr>
        <p:txBody>
          <a:bodyPr wrap="square" lIns="0" rIns="0" tIns="0" bIns="0" anchor="t">
            <a:spAutoFit/>
          </a:bodyPr>
          <a:lstStyle/>
          <a:p>
            <a:pPr algn="ctr">
              <a:lnSpc>
                <a:spcPct val="115000"/>
              </a:lnSpc>
            </a:pPr>
            <a:r>
              <a:rPr sz="1950" b="1">
                <a:solidFill>
                  <a:srgbClr val="0F2D5B"/>
                </a:solidFill>
                <a:latin typeface="Segoe UI"/>
              </a:rPr>
              <a:t>Happy Care</a:t>
            </a:r>
          </a:p>
        </p:txBody>
      </p:sp>
      <p:sp>
        <p:nvSpPr>
          <p:cNvPr id="11" name="TextBox 10"/>
          <p:cNvSpPr txBox="1"/>
          <p:nvPr/>
        </p:nvSpPr>
        <p:spPr>
          <a:xfrm>
            <a:off x="3048000" y="5969000"/>
            <a:ext cx="1905000" cy="444500"/>
          </a:xfrm>
          <a:prstGeom prst="rect">
            <a:avLst/>
          </a:prstGeom>
          <a:noFill/>
        </p:spPr>
        <p:txBody>
          <a:bodyPr wrap="square" lIns="0" rIns="0" tIns="0" bIns="0" anchor="t">
            <a:spAutoFit/>
          </a:bodyPr>
          <a:lstStyle/>
          <a:p>
            <a:pPr algn="ctr">
              <a:lnSpc>
                <a:spcPct val="115000"/>
              </a:lnSpc>
            </a:pPr>
            <a:r>
              <a:rPr sz="1425" b="0">
                <a:solidFill>
                  <a:srgbClr val="173153"/>
                </a:solidFill>
                <a:latin typeface="Segoe UI"/>
              </a:rPr>
              <a:t>эмч, нийгмийн ажилтанд хандах</a:t>
            </a:r>
          </a:p>
        </p:txBody>
      </p:sp>
      <p:sp>
        <p:nvSpPr>
          <p:cNvPr id="12" name="Rounded Rectangle 11"/>
          <p:cNvSpPr/>
          <p:nvPr/>
        </p:nvSpPr>
        <p:spPr>
          <a:xfrm>
            <a:off x="5143500" y="1746250"/>
            <a:ext cx="1841500" cy="3790950"/>
          </a:xfrm>
          <a:prstGeom prst="roundRect">
            <a:avLst>
              <a:gd name="adj" fmla="val 12413"/>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tudent-patrol-390.png"/>
          <p:cNvPicPr>
            <a:picLocks noChangeAspect="1"/>
          </p:cNvPicPr>
          <p:nvPr/>
        </p:nvPicPr>
        <p:blipFill>
          <a:blip r:embed="rId4"/>
          <a:srcRect b="461"/>
          <a:stretch>
            <a:fillRect/>
          </a:stretch>
        </p:blipFill>
        <p:spPr>
          <a:xfrm>
            <a:off x="5219700" y="1822450"/>
            <a:ext cx="1689100" cy="3638550"/>
          </a:xfrm>
          <a:prstGeom prst="rect">
            <a:avLst/>
          </a:prstGeom>
        </p:spPr>
      </p:pic>
      <p:sp>
        <p:nvSpPr>
          <p:cNvPr id="14" name="TextBox 13"/>
          <p:cNvSpPr txBox="1"/>
          <p:nvPr/>
        </p:nvSpPr>
        <p:spPr>
          <a:xfrm>
            <a:off x="5143500" y="5683250"/>
            <a:ext cx="1905000" cy="279400"/>
          </a:xfrm>
          <a:prstGeom prst="rect">
            <a:avLst/>
          </a:prstGeom>
          <a:noFill/>
        </p:spPr>
        <p:txBody>
          <a:bodyPr wrap="square" lIns="0" rIns="0" tIns="0" bIns="0" anchor="t">
            <a:spAutoFit/>
          </a:bodyPr>
          <a:lstStyle/>
          <a:p>
            <a:pPr algn="ctr">
              <a:lnSpc>
                <a:spcPct val="115000"/>
              </a:lnSpc>
            </a:pPr>
            <a:r>
              <a:rPr sz="1950" b="1">
                <a:solidFill>
                  <a:srgbClr val="0F2D5B"/>
                </a:solidFill>
                <a:latin typeface="Segoe UI"/>
              </a:rPr>
              <a:t>Happy Patrol</a:t>
            </a:r>
          </a:p>
        </p:txBody>
      </p:sp>
      <p:sp>
        <p:nvSpPr>
          <p:cNvPr id="15" name="TextBox 14"/>
          <p:cNvSpPr txBox="1"/>
          <p:nvPr/>
        </p:nvSpPr>
        <p:spPr>
          <a:xfrm>
            <a:off x="5143500" y="5969000"/>
            <a:ext cx="1905000" cy="444500"/>
          </a:xfrm>
          <a:prstGeom prst="rect">
            <a:avLst/>
          </a:prstGeom>
          <a:noFill/>
        </p:spPr>
        <p:txBody>
          <a:bodyPr wrap="square" lIns="0" rIns="0" tIns="0" bIns="0" anchor="t">
            <a:spAutoFit/>
          </a:bodyPr>
          <a:lstStyle/>
          <a:p>
            <a:pPr algn="ctr">
              <a:lnSpc>
                <a:spcPct val="115000"/>
              </a:lnSpc>
            </a:pPr>
            <a:r>
              <a:rPr sz="1425" b="0">
                <a:solidFill>
                  <a:srgbClr val="173153"/>
                </a:solidFill>
                <a:latin typeface="Segoe UI"/>
              </a:rPr>
              <a:t>сурагчдын аюулгүй ээлж</a:t>
            </a:r>
          </a:p>
        </p:txBody>
      </p:sp>
      <p:sp>
        <p:nvSpPr>
          <p:cNvPr id="16" name="Rounded Rectangle 15"/>
          <p:cNvSpPr/>
          <p:nvPr/>
        </p:nvSpPr>
        <p:spPr>
          <a:xfrm>
            <a:off x="7239000" y="1746250"/>
            <a:ext cx="1841500" cy="3790950"/>
          </a:xfrm>
          <a:prstGeom prst="roundRect">
            <a:avLst>
              <a:gd name="adj" fmla="val 12413"/>
            </a:avLst>
          </a:prstGeom>
          <a:solidFill>
            <a:srgbClr val="0B1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tudent-council-390.png"/>
          <p:cNvPicPr>
            <a:picLocks noChangeAspect="1"/>
          </p:cNvPicPr>
          <p:nvPr/>
        </p:nvPicPr>
        <p:blipFill>
          <a:blip r:embed="rId5"/>
          <a:srcRect b="461"/>
          <a:stretch>
            <a:fillRect/>
          </a:stretch>
        </p:blipFill>
        <p:spPr>
          <a:xfrm>
            <a:off x="7315200" y="1822450"/>
            <a:ext cx="1689100" cy="3638550"/>
          </a:xfrm>
          <a:prstGeom prst="rect">
            <a:avLst/>
          </a:prstGeom>
        </p:spPr>
      </p:pic>
      <p:sp>
        <p:nvSpPr>
          <p:cNvPr id="18" name="TextBox 17"/>
          <p:cNvSpPr txBox="1"/>
          <p:nvPr/>
        </p:nvSpPr>
        <p:spPr>
          <a:xfrm>
            <a:off x="7239000" y="5683250"/>
            <a:ext cx="1905000" cy="279400"/>
          </a:xfrm>
          <a:prstGeom prst="rect">
            <a:avLst/>
          </a:prstGeom>
          <a:noFill/>
        </p:spPr>
        <p:txBody>
          <a:bodyPr wrap="square" lIns="0" rIns="0" tIns="0" bIns="0" anchor="t">
            <a:spAutoFit/>
          </a:bodyPr>
          <a:lstStyle/>
          <a:p>
            <a:pPr algn="ctr">
              <a:lnSpc>
                <a:spcPct val="115000"/>
              </a:lnSpc>
            </a:pPr>
            <a:r>
              <a:rPr sz="1950" b="1">
                <a:solidFill>
                  <a:srgbClr val="0F2D5B"/>
                </a:solidFill>
                <a:latin typeface="Segoe UI"/>
              </a:rPr>
              <a:t>Happy Council</a:t>
            </a:r>
          </a:p>
        </p:txBody>
      </p:sp>
      <p:sp>
        <p:nvSpPr>
          <p:cNvPr id="19" name="TextBox 18"/>
          <p:cNvSpPr txBox="1"/>
          <p:nvPr/>
        </p:nvSpPr>
        <p:spPr>
          <a:xfrm>
            <a:off x="7239000" y="5969000"/>
            <a:ext cx="1905000" cy="444500"/>
          </a:xfrm>
          <a:prstGeom prst="rect">
            <a:avLst/>
          </a:prstGeom>
          <a:noFill/>
        </p:spPr>
        <p:txBody>
          <a:bodyPr wrap="square" lIns="0" rIns="0" tIns="0" bIns="0" anchor="t">
            <a:spAutoFit/>
          </a:bodyPr>
          <a:lstStyle/>
          <a:p>
            <a:pPr algn="ctr">
              <a:lnSpc>
                <a:spcPct val="115000"/>
              </a:lnSpc>
            </a:pPr>
            <a:r>
              <a:rPr sz="1425" b="0">
                <a:solidFill>
                  <a:srgbClr val="173153"/>
                </a:solidFill>
                <a:latin typeface="Segoe UI"/>
              </a:rPr>
              <a:t>сурагчдын оролцоо, санал, шийдвэр</a:t>
            </a:r>
          </a:p>
        </p:txBody>
      </p:sp>
      <p:sp>
        <p:nvSpPr>
          <p:cNvPr id="20" name="Rounded Rectangle 19"/>
          <p:cNvSpPr/>
          <p:nvPr/>
        </p:nvSpPr>
        <p:spPr>
          <a:xfrm>
            <a:off x="9334500" y="1746250"/>
            <a:ext cx="1841500" cy="3790950"/>
          </a:xfrm>
          <a:prstGeom prst="roundRect">
            <a:avLst>
              <a:gd name="adj" fmla="val 9655"/>
            </a:avLst>
          </a:prstGeom>
          <a:solidFill>
            <a:srgbClr val="0F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74200" y="1905000"/>
            <a:ext cx="1562100" cy="254000"/>
          </a:xfrm>
          <a:prstGeom prst="rect">
            <a:avLst/>
          </a:prstGeom>
          <a:noFill/>
        </p:spPr>
        <p:txBody>
          <a:bodyPr wrap="square" lIns="0" rIns="0" tIns="0" bIns="0" anchor="t">
            <a:spAutoFit/>
          </a:bodyPr>
          <a:lstStyle/>
          <a:p>
            <a:pPr algn="l">
              <a:lnSpc>
                <a:spcPct val="115000"/>
              </a:lnSpc>
            </a:pPr>
            <a:r>
              <a:rPr sz="1200" b="1" spc="150">
                <a:solidFill>
                  <a:srgbClr val="FFD34D"/>
                </a:solidFill>
                <a:latin typeface="Segoe UI"/>
              </a:rPr>
              <a:t>HAPPY AI · GEMMA 4</a:t>
            </a:r>
          </a:p>
        </p:txBody>
      </p:sp>
      <p:sp>
        <p:nvSpPr>
          <p:cNvPr id="22" name="TextBox 21"/>
          <p:cNvSpPr txBox="1"/>
          <p:nvPr/>
        </p:nvSpPr>
        <p:spPr>
          <a:xfrm>
            <a:off x="9474200" y="2127250"/>
            <a:ext cx="1562100" cy="381000"/>
          </a:xfrm>
          <a:prstGeom prst="rect">
            <a:avLst/>
          </a:prstGeom>
          <a:noFill/>
        </p:spPr>
        <p:txBody>
          <a:bodyPr wrap="square" lIns="0" rIns="0" tIns="0" bIns="0" anchor="t">
            <a:spAutoFit/>
          </a:bodyPr>
          <a:lstStyle/>
          <a:p>
            <a:pPr algn="l">
              <a:lnSpc>
                <a:spcPct val="115000"/>
              </a:lnSpc>
            </a:pPr>
            <a:r>
              <a:rPr sz="1650" b="1">
                <a:solidFill>
                  <a:srgbClr val="FFFFFF"/>
                </a:solidFill>
                <a:latin typeface="Segoe UI"/>
              </a:rPr>
              <a:t>Бодит дүгнэлт · 15:42</a:t>
            </a:r>
          </a:p>
        </p:txBody>
      </p:sp>
      <p:sp>
        <p:nvSpPr>
          <p:cNvPr id="23" name="TextBox 22"/>
          <p:cNvSpPr txBox="1"/>
          <p:nvPr/>
        </p:nvSpPr>
        <p:spPr>
          <a:xfrm>
            <a:off x="9474200" y="2413000"/>
            <a:ext cx="1562100" cy="381000"/>
          </a:xfrm>
          <a:prstGeom prst="rect">
            <a:avLst/>
          </a:prstGeom>
          <a:noFill/>
        </p:spPr>
        <p:txBody>
          <a:bodyPr wrap="square" lIns="0" rIns="0" tIns="0" bIns="0" anchor="t">
            <a:spAutoFit/>
          </a:bodyPr>
          <a:lstStyle/>
          <a:p>
            <a:pPr algn="l">
              <a:lnSpc>
                <a:spcPct val="115000"/>
              </a:lnSpc>
            </a:pPr>
            <a:r>
              <a:rPr sz="1125" b="0">
                <a:solidFill>
                  <a:srgbClr val="C9D8EE"/>
                </a:solidFill>
                <a:latin typeface="Segoe UI"/>
              </a:rPr>
              <a:t>google/gemma-4-26b-a4b-it · 8.9 с · Zod ✓</a:t>
            </a:r>
          </a:p>
        </p:txBody>
      </p:sp>
      <p:sp>
        <p:nvSpPr>
          <p:cNvPr id="24" name="TextBox 23"/>
          <p:cNvSpPr txBox="1"/>
          <p:nvPr/>
        </p:nvSpPr>
        <p:spPr>
          <a:xfrm>
            <a:off x="9474200" y="2730500"/>
            <a:ext cx="1562100" cy="254000"/>
          </a:xfrm>
          <a:prstGeom prst="rect">
            <a:avLst/>
          </a:prstGeom>
          <a:noFill/>
        </p:spPr>
        <p:txBody>
          <a:bodyPr wrap="square" lIns="0" rIns="0" tIns="0" bIns="0" anchor="t">
            <a:spAutoFit/>
          </a:bodyPr>
          <a:lstStyle/>
          <a:p>
            <a:pPr algn="l">
              <a:lnSpc>
                <a:spcPct val="115000"/>
              </a:lnSpc>
            </a:pPr>
            <a:r>
              <a:rPr sz="1125" b="1">
                <a:solidFill>
                  <a:srgbClr val="A7E3C1"/>
                </a:solidFill>
                <a:latin typeface="Segoe UI"/>
              </a:rPr>
              <a:t>Ангилал: ДЭЭРЭЛХЭЛТ · Яаралтай: ӨНДӨР</a:t>
            </a:r>
          </a:p>
        </p:txBody>
      </p:sp>
      <p:sp>
        <p:nvSpPr>
          <p:cNvPr id="25" name="TextBox 24"/>
          <p:cNvSpPr txBox="1"/>
          <p:nvPr/>
        </p:nvSpPr>
        <p:spPr>
          <a:xfrm>
            <a:off x="9474200" y="3016250"/>
            <a:ext cx="1562100" cy="1587500"/>
          </a:xfrm>
          <a:prstGeom prst="rect">
            <a:avLst/>
          </a:prstGeom>
          <a:noFill/>
        </p:spPr>
        <p:txBody>
          <a:bodyPr wrap="square" lIns="0" rIns="0" tIns="0" bIns="0" anchor="t">
            <a:spAutoFit/>
          </a:bodyPr>
          <a:lstStyle/>
          <a:p>
            <a:pPr algn="l">
              <a:lnSpc>
                <a:spcPct val="135000"/>
              </a:lnSpc>
            </a:pPr>
            <a:r>
              <a:rPr sz="1200" b="0">
                <a:solidFill>
                  <a:srgbClr val="FFFFFF"/>
                </a:solidFill>
                <a:latin typeface="Segoe UI"/>
              </a:rPr>
              <a:t>«Долоо хоногийн турш ахлах ангийн хоёр хүү сурагчийг коридорт тулгаж, доромжилж, цүнх булааж байсан. Өнөөдөр мөн мөнгө нэхсэн тул сурагч айж байна.»</a:t>
            </a:r>
          </a:p>
        </p:txBody>
      </p:sp>
      <p:sp>
        <p:nvSpPr>
          <p:cNvPr id="26" name="TextBox 25"/>
          <p:cNvSpPr txBox="1"/>
          <p:nvPr/>
        </p:nvSpPr>
        <p:spPr>
          <a:xfrm>
            <a:off x="9474200" y="4667250"/>
            <a:ext cx="1562100" cy="381000"/>
          </a:xfrm>
          <a:prstGeom prst="rect">
            <a:avLst/>
          </a:prstGeom>
          <a:noFill/>
        </p:spPr>
        <p:txBody>
          <a:bodyPr wrap="square" lIns="0" rIns="0" tIns="0" bIns="0" anchor="t">
            <a:spAutoFit/>
          </a:bodyPr>
          <a:lstStyle/>
          <a:p>
            <a:pPr algn="l">
              <a:lnSpc>
                <a:spcPct val="130000"/>
              </a:lnSpc>
            </a:pPr>
            <a:r>
              <a:rPr sz="975" b="0">
                <a:solidFill>
                  <a:srgbClr val="8FA3BC"/>
                </a:solidFill>
                <a:latin typeface="Segoe UI"/>
              </a:rPr>
              <a:t>Зохиомол жишээ · зөвхөн багшид · шийдвэрийг хүн гаргана</a:t>
            </a:r>
          </a:p>
        </p:txBody>
      </p:sp>
      <p:sp>
        <p:nvSpPr>
          <p:cNvPr id="27" name="TextBox 26"/>
          <p:cNvSpPr txBox="1"/>
          <p:nvPr/>
        </p:nvSpPr>
        <p:spPr>
          <a:xfrm>
            <a:off x="9474200" y="5080000"/>
            <a:ext cx="1562100" cy="317500"/>
          </a:xfrm>
          <a:prstGeom prst="rect">
            <a:avLst/>
          </a:prstGeom>
          <a:noFill/>
        </p:spPr>
        <p:txBody>
          <a:bodyPr wrap="square" lIns="0" rIns="0" tIns="0" bIns="0" anchor="t">
            <a:spAutoFit/>
          </a:bodyPr>
          <a:lstStyle/>
          <a:p>
            <a:pPr algn="l">
              <a:lnSpc>
                <a:spcPct val="115000"/>
              </a:lnSpc>
            </a:pPr>
            <a:r>
              <a:rPr sz="975" b="0">
                <a:solidFill>
                  <a:srgbClr val="C9D8EE"/>
                </a:solidFill>
                <a:latin typeface="Consolas"/>
              </a:rPr>
              <a:t>docs/ai-proof/latest.json</a:t>
            </a:r>
          </a:p>
        </p:txBody>
      </p:sp>
      <p:sp>
        <p:nvSpPr>
          <p:cNvPr id="28" name="TextBox 27"/>
          <p:cNvSpPr txBox="1"/>
          <p:nvPr/>
        </p:nvSpPr>
        <p:spPr>
          <a:xfrm>
            <a:off x="9334500" y="5683250"/>
            <a:ext cx="1905000" cy="279400"/>
          </a:xfrm>
          <a:prstGeom prst="rect">
            <a:avLst/>
          </a:prstGeom>
          <a:noFill/>
        </p:spPr>
        <p:txBody>
          <a:bodyPr wrap="square" lIns="0" rIns="0" tIns="0" bIns="0" anchor="t">
            <a:spAutoFit/>
          </a:bodyPr>
          <a:lstStyle/>
          <a:p>
            <a:pPr algn="ctr">
              <a:lnSpc>
                <a:spcPct val="115000"/>
              </a:lnSpc>
            </a:pPr>
            <a:r>
              <a:rPr sz="1950" b="1">
                <a:solidFill>
                  <a:srgbClr val="0F2D5B"/>
                </a:solidFill>
                <a:latin typeface="Segoe UI"/>
              </a:rPr>
              <a:t>Happy AI</a:t>
            </a:r>
          </a:p>
        </p:txBody>
      </p:sp>
      <p:sp>
        <p:nvSpPr>
          <p:cNvPr id="29" name="TextBox 28"/>
          <p:cNvSpPr txBox="1"/>
          <p:nvPr/>
        </p:nvSpPr>
        <p:spPr>
          <a:xfrm>
            <a:off x="9334500" y="5969000"/>
            <a:ext cx="1905000" cy="444500"/>
          </a:xfrm>
          <a:prstGeom prst="rect">
            <a:avLst/>
          </a:prstGeom>
          <a:noFill/>
        </p:spPr>
        <p:txBody>
          <a:bodyPr wrap="square" lIns="0" rIns="0" tIns="0" bIns="0" anchor="t">
            <a:spAutoFit/>
          </a:bodyPr>
          <a:lstStyle/>
          <a:p>
            <a:pPr algn="ctr">
              <a:lnSpc>
                <a:spcPct val="115000"/>
              </a:lnSpc>
            </a:pPr>
            <a:r>
              <a:rPr sz="1425" b="0">
                <a:solidFill>
                  <a:srgbClr val="173153"/>
                </a:solidFill>
                <a:latin typeface="Segoe UI"/>
              </a:rPr>
              <a:t>Gemma 4 · зөвхөн багшид санал</a:t>
            </a:r>
          </a:p>
        </p:txBody>
      </p:sp>
      <p:sp>
        <p:nvSpPr>
          <p:cNvPr id="30" name="TextBox 29"/>
          <p:cNvSpPr txBox="1"/>
          <p:nvPr/>
        </p:nvSpPr>
        <p:spPr>
          <a:xfrm>
            <a:off x="1016000" y="6508750"/>
            <a:ext cx="10160000" cy="228600"/>
          </a:xfrm>
          <a:prstGeom prst="rect">
            <a:avLst/>
          </a:prstGeom>
          <a:noFill/>
        </p:spPr>
        <p:txBody>
          <a:bodyPr wrap="square" lIns="0" rIns="0" tIns="0" bIns="0" anchor="t">
            <a:spAutoFit/>
          </a:bodyPr>
          <a:lstStyle/>
          <a:p>
            <a:pPr algn="ctr">
              <a:lnSpc>
                <a:spcPct val="115000"/>
              </a:lnSpc>
            </a:pPr>
            <a:r>
              <a:rPr sz="1350" b="0">
                <a:solidFill>
                  <a:srgbClr val="8FA3BC"/>
                </a:solidFill>
                <a:latin typeface="Segoe UI"/>
              </a:rPr>
              <a:t>Бодит дэлгэцүүд · Happy AI карт нь бодит баталгаажсан гаралт (UI дэлгэц биш) · AI санал зөвхөн багшид очно, шийдвэрийг хүн гаргана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C3A"/>
        </a:solidFill>
        <a:effectLst/>
      </p:bgPr>
    </p:bg>
    <p:spTree>
      <p:nvGrpSpPr>
        <p:cNvPr id="1" name=""/>
        <p:cNvGrpSpPr/>
        <p:nvPr/>
      </p:nvGrpSpPr>
      <p:grpSpPr/>
      <p:sp>
        <p:nvSpPr>
          <p:cNvPr id="2" name="TextBox 1"/>
          <p:cNvSpPr txBox="1"/>
          <p:nvPr/>
        </p:nvSpPr>
        <p:spPr>
          <a:xfrm>
            <a:off x="1016000" y="571500"/>
            <a:ext cx="10160000" cy="571500"/>
          </a:xfrm>
          <a:prstGeom prst="rect">
            <a:avLst/>
          </a:prstGeom>
          <a:noFill/>
        </p:spPr>
        <p:txBody>
          <a:bodyPr wrap="square" lIns="0" rIns="0" tIns="0" bIns="0" anchor="t">
            <a:spAutoFit/>
          </a:bodyPr>
          <a:lstStyle/>
          <a:p>
            <a:pPr algn="l">
              <a:lnSpc>
                <a:spcPct val="115000"/>
              </a:lnSpc>
            </a:pPr>
            <a:r>
              <a:rPr sz="4800" b="1">
                <a:solidFill>
                  <a:srgbClr val="FFFFFF"/>
                </a:solidFill>
                <a:latin typeface="Segoe UI"/>
              </a:rPr>
              <a:t>Зүгээр нэг санаа биш.</a:t>
            </a:r>
          </a:p>
        </p:txBody>
      </p:sp>
      <p:sp>
        <p:nvSpPr>
          <p:cNvPr id="3" name="TextBox 2"/>
          <p:cNvSpPr txBox="1"/>
          <p:nvPr/>
        </p:nvSpPr>
        <p:spPr>
          <a:xfrm>
            <a:off x="1016000" y="1460500"/>
            <a:ext cx="2667000" cy="825500"/>
          </a:xfrm>
          <a:prstGeom prst="rect">
            <a:avLst/>
          </a:prstGeom>
          <a:noFill/>
        </p:spPr>
        <p:txBody>
          <a:bodyPr wrap="square" lIns="0" rIns="0" tIns="0" bIns="0" anchor="t">
            <a:spAutoFit/>
          </a:bodyPr>
          <a:lstStyle/>
          <a:p>
            <a:pPr algn="l">
              <a:lnSpc>
                <a:spcPct val="115000"/>
              </a:lnSpc>
            </a:pPr>
            <a:r>
              <a:rPr sz="8100" b="1">
                <a:solidFill>
                  <a:srgbClr val="FFD34D"/>
                </a:solidFill>
                <a:latin typeface="Segoe UI"/>
              </a:rPr>
              <a:t>48/48</a:t>
            </a:r>
          </a:p>
        </p:txBody>
      </p:sp>
      <p:sp>
        <p:nvSpPr>
          <p:cNvPr id="4" name="TextBox 3"/>
          <p:cNvSpPr txBox="1"/>
          <p:nvPr/>
        </p:nvSpPr>
        <p:spPr>
          <a:xfrm>
            <a:off x="1016000" y="2349500"/>
            <a:ext cx="2667000" cy="254000"/>
          </a:xfrm>
          <a:prstGeom prst="rect">
            <a:avLst/>
          </a:prstGeom>
          <a:noFill/>
        </p:spPr>
        <p:txBody>
          <a:bodyPr wrap="square" lIns="0" rIns="0" tIns="0" bIns="0" anchor="t">
            <a:spAutoFit/>
          </a:bodyPr>
          <a:lstStyle/>
          <a:p>
            <a:pPr algn="l">
              <a:lnSpc>
                <a:spcPct val="115000"/>
              </a:lnSpc>
            </a:pPr>
            <a:r>
              <a:rPr sz="1800" b="0">
                <a:solidFill>
                  <a:srgbClr val="C9D8EE"/>
                </a:solidFill>
                <a:latin typeface="Segoe UI"/>
              </a:rPr>
              <a:t>автомат E2E тест</a:t>
            </a:r>
          </a:p>
        </p:txBody>
      </p:sp>
      <p:sp>
        <p:nvSpPr>
          <p:cNvPr id="5" name="TextBox 4"/>
          <p:cNvSpPr txBox="1"/>
          <p:nvPr/>
        </p:nvSpPr>
        <p:spPr>
          <a:xfrm>
            <a:off x="3810000" y="1460500"/>
            <a:ext cx="2667000" cy="825500"/>
          </a:xfrm>
          <a:prstGeom prst="rect">
            <a:avLst/>
          </a:prstGeom>
          <a:noFill/>
        </p:spPr>
        <p:txBody>
          <a:bodyPr wrap="square" lIns="0" rIns="0" tIns="0" bIns="0" anchor="t">
            <a:spAutoFit/>
          </a:bodyPr>
          <a:lstStyle/>
          <a:p>
            <a:pPr algn="l">
              <a:lnSpc>
                <a:spcPct val="115000"/>
              </a:lnSpc>
            </a:pPr>
            <a:r>
              <a:rPr sz="8100" b="1">
                <a:solidFill>
                  <a:srgbClr val="FFD34D"/>
                </a:solidFill>
                <a:latin typeface="Segoe UI"/>
              </a:rPr>
              <a:t>15/15</a:t>
            </a:r>
          </a:p>
        </p:txBody>
      </p:sp>
      <p:sp>
        <p:nvSpPr>
          <p:cNvPr id="6" name="TextBox 5"/>
          <p:cNvSpPr txBox="1"/>
          <p:nvPr/>
        </p:nvSpPr>
        <p:spPr>
          <a:xfrm>
            <a:off x="3810000" y="2349500"/>
            <a:ext cx="2667000" cy="254000"/>
          </a:xfrm>
          <a:prstGeom prst="rect">
            <a:avLst/>
          </a:prstGeom>
          <a:noFill/>
        </p:spPr>
        <p:txBody>
          <a:bodyPr wrap="square" lIns="0" rIns="0" tIns="0" bIns="0" anchor="t">
            <a:spAutoFit/>
          </a:bodyPr>
          <a:lstStyle/>
          <a:p>
            <a:pPr algn="l">
              <a:lnSpc>
                <a:spcPct val="115000"/>
              </a:lnSpc>
            </a:pPr>
            <a:r>
              <a:rPr sz="1800" b="0">
                <a:solidFill>
                  <a:srgbClr val="C9D8EE"/>
                </a:solidFill>
                <a:latin typeface="Segoe UI"/>
              </a:rPr>
              <a:t>амьд web/BFF smoke шалгалт</a:t>
            </a:r>
          </a:p>
        </p:txBody>
      </p:sp>
      <p:sp>
        <p:nvSpPr>
          <p:cNvPr id="7" name="TextBox 6"/>
          <p:cNvSpPr txBox="1"/>
          <p:nvPr/>
        </p:nvSpPr>
        <p:spPr>
          <a:xfrm>
            <a:off x="1016000" y="2921000"/>
            <a:ext cx="5588000" cy="1905000"/>
          </a:xfrm>
          <a:prstGeom prst="rect">
            <a:avLst/>
          </a:prstGeom>
          <a:noFill/>
        </p:spPr>
        <p:txBody>
          <a:bodyPr wrap="square" lIns="0" rIns="0" tIns="0" bIns="0" anchor="t">
            <a:spAutoFit/>
          </a:bodyPr>
          <a:lstStyle/>
          <a:p>
            <a:pPr algn="l">
              <a:lnSpc>
                <a:spcPct val="150000"/>
              </a:lnSpc>
            </a:pPr>
            <a:r>
              <a:rPr sz="1875" b="0">
                <a:solidFill>
                  <a:srgbClr val="FFFFFF"/>
                </a:solidFill>
                <a:latin typeface="Segoe UI"/>
              </a:rPr>
              <a:t>✓  SOS, хүлээн авалт, томилолт, хамгаалагдсан мессеж — бүгд хадгалагдана</a:t>
            </a:r>
          </a:p>
          <a:p>
            <a:pPr algn="l">
              <a:lnSpc>
                <a:spcPct val="150000"/>
              </a:lnSpc>
            </a:pPr>
            <a:r>
              <a:rPr sz="1875" b="0">
                <a:solidFill>
                  <a:srgbClr val="FFFFFF"/>
                </a:solidFill>
                <a:latin typeface="Segoe UI"/>
              </a:rPr>
              <a:t>✓  Сургуулиар хязгаарласан эрх · сөрөг (татгалзах) тестүүд</a:t>
            </a:r>
          </a:p>
          <a:p>
            <a:pPr algn="l">
              <a:lnSpc>
                <a:spcPct val="150000"/>
              </a:lnSpc>
            </a:pPr>
            <a:r>
              <a:rPr sz="1875" b="0">
                <a:solidFill>
                  <a:srgbClr val="FFFFFF"/>
                </a:solidFill>
                <a:latin typeface="Segoe UI"/>
              </a:rPr>
              <a:t>✓  Серверээр баталгаажсан гарын үсэгтэй байршлын QR</a:t>
            </a:r>
          </a:p>
          <a:p>
            <a:pPr algn="l">
              <a:lnSpc>
                <a:spcPct val="150000"/>
              </a:lnSpc>
            </a:pPr>
            <a:r>
              <a:rPr sz="1875" b="0">
                <a:solidFill>
                  <a:srgbClr val="FFFFFF"/>
                </a:solidFill>
                <a:latin typeface="Segoe UI"/>
              </a:rPr>
              <a:t>✓  Gemma 4 бодит дүгнэлт тусад нь баталгаажсан (15:42, Zod)</a:t>
            </a:r>
          </a:p>
        </p:txBody>
      </p:sp>
      <p:sp>
        <p:nvSpPr>
          <p:cNvPr id="8" name="Rounded Rectangle 7"/>
          <p:cNvSpPr/>
          <p:nvPr/>
        </p:nvSpPr>
        <p:spPr>
          <a:xfrm>
            <a:off x="7493000" y="1524000"/>
            <a:ext cx="3683000" cy="571500"/>
          </a:xfrm>
          <a:prstGeom prst="roundRect">
            <a:avLst>
              <a:gd name="adj" fmla="val 20000"/>
            </a:avLst>
          </a:prstGeom>
          <a:solidFill>
            <a:srgbClr val="123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3000" y="1524000"/>
            <a:ext cx="3683000" cy="571500"/>
          </a:xfrm>
          <a:prstGeom prst="rect">
            <a:avLst/>
          </a:prstGeom>
          <a:noFill/>
        </p:spPr>
        <p:txBody>
          <a:bodyPr wrap="square" lIns="0" rIns="0" tIns="0" bIns="0" anchor="ctr">
            <a:spAutoFit/>
          </a:bodyPr>
          <a:lstStyle/>
          <a:p>
            <a:pPr algn="ctr">
              <a:lnSpc>
                <a:spcPct val="115000"/>
              </a:lnSpc>
            </a:pPr>
            <a:r>
              <a:rPr sz="1950" b="1">
                <a:solidFill>
                  <a:srgbClr val="FFFFFF"/>
                </a:solidFill>
                <a:latin typeface="Segoe UI"/>
              </a:rPr>
              <a:t>Сурагч / багшийн хөтөч</a:t>
            </a:r>
          </a:p>
        </p:txBody>
      </p:sp>
      <p:sp>
        <p:nvSpPr>
          <p:cNvPr id="10" name="TextBox 9"/>
          <p:cNvSpPr txBox="1"/>
          <p:nvPr/>
        </p:nvSpPr>
        <p:spPr>
          <a:xfrm>
            <a:off x="7493000" y="2095500"/>
            <a:ext cx="3683000" cy="254000"/>
          </a:xfrm>
          <a:prstGeom prst="rect">
            <a:avLst/>
          </a:prstGeom>
          <a:noFill/>
        </p:spPr>
        <p:txBody>
          <a:bodyPr wrap="square" lIns="0" rIns="0" tIns="0" bIns="0" anchor="t">
            <a:spAutoFit/>
          </a:bodyPr>
          <a:lstStyle/>
          <a:p>
            <a:pPr algn="ctr">
              <a:lnSpc>
                <a:spcPct val="115000"/>
              </a:lnSpc>
            </a:pPr>
            <a:r>
              <a:rPr sz="2100" b="1">
                <a:solidFill>
                  <a:srgbClr val="5B9CFF"/>
                </a:solidFill>
                <a:latin typeface="Segoe UI"/>
              </a:rPr>
              <a:t>↓</a:t>
            </a:r>
          </a:p>
        </p:txBody>
      </p:sp>
      <p:sp>
        <p:nvSpPr>
          <p:cNvPr id="11" name="Rounded Rectangle 10"/>
          <p:cNvSpPr/>
          <p:nvPr/>
        </p:nvSpPr>
        <p:spPr>
          <a:xfrm>
            <a:off x="7493000" y="2349500"/>
            <a:ext cx="3683000" cy="571500"/>
          </a:xfrm>
          <a:prstGeom prst="roundRect">
            <a:avLst>
              <a:gd name="adj" fmla="val 20000"/>
            </a:avLst>
          </a:prstGeom>
          <a:solidFill>
            <a:srgbClr val="123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3000" y="2349500"/>
            <a:ext cx="3683000" cy="571500"/>
          </a:xfrm>
          <a:prstGeom prst="rect">
            <a:avLst/>
          </a:prstGeom>
          <a:noFill/>
        </p:spPr>
        <p:txBody>
          <a:bodyPr wrap="square" lIns="0" rIns="0" tIns="0" bIns="0" anchor="ctr">
            <a:spAutoFit/>
          </a:bodyPr>
          <a:lstStyle/>
          <a:p>
            <a:pPr algn="ctr">
              <a:lnSpc>
                <a:spcPct val="115000"/>
              </a:lnSpc>
            </a:pPr>
            <a:r>
              <a:rPr sz="1950" b="1">
                <a:solidFill>
                  <a:srgbClr val="FFFFFF"/>
                </a:solidFill>
                <a:latin typeface="Segoe UI"/>
              </a:rPr>
              <a:t>Next.js вэб + BFF (allow-list)</a:t>
            </a:r>
          </a:p>
        </p:txBody>
      </p:sp>
      <p:sp>
        <p:nvSpPr>
          <p:cNvPr id="13" name="TextBox 12"/>
          <p:cNvSpPr txBox="1"/>
          <p:nvPr/>
        </p:nvSpPr>
        <p:spPr>
          <a:xfrm>
            <a:off x="7493000" y="2921000"/>
            <a:ext cx="3683000" cy="254000"/>
          </a:xfrm>
          <a:prstGeom prst="rect">
            <a:avLst/>
          </a:prstGeom>
          <a:noFill/>
        </p:spPr>
        <p:txBody>
          <a:bodyPr wrap="square" lIns="0" rIns="0" tIns="0" bIns="0" anchor="t">
            <a:spAutoFit/>
          </a:bodyPr>
          <a:lstStyle/>
          <a:p>
            <a:pPr algn="ctr">
              <a:lnSpc>
                <a:spcPct val="115000"/>
              </a:lnSpc>
            </a:pPr>
            <a:r>
              <a:rPr sz="2100" b="1">
                <a:solidFill>
                  <a:srgbClr val="5B9CFF"/>
                </a:solidFill>
                <a:latin typeface="Segoe UI"/>
              </a:rPr>
              <a:t>↓</a:t>
            </a:r>
          </a:p>
        </p:txBody>
      </p:sp>
      <p:sp>
        <p:nvSpPr>
          <p:cNvPr id="14" name="Rounded Rectangle 13"/>
          <p:cNvSpPr/>
          <p:nvPr/>
        </p:nvSpPr>
        <p:spPr>
          <a:xfrm>
            <a:off x="7493000" y="3175000"/>
            <a:ext cx="3683000" cy="698500"/>
          </a:xfrm>
          <a:prstGeom prst="roundRect">
            <a:avLst>
              <a:gd name="adj" fmla="val 16363"/>
            </a:avLst>
          </a:prstGeom>
          <a:solidFill>
            <a:srgbClr val="123F73"/>
          </a:solidFill>
          <a:ln w="25400">
            <a:solidFill>
              <a:srgbClr val="FFD3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3000" y="3175000"/>
            <a:ext cx="3683000" cy="698500"/>
          </a:xfrm>
          <a:prstGeom prst="rect">
            <a:avLst/>
          </a:prstGeom>
          <a:noFill/>
        </p:spPr>
        <p:txBody>
          <a:bodyPr wrap="square" lIns="0" rIns="0" tIns="0" bIns="0" anchor="ctr">
            <a:spAutoFit/>
          </a:bodyPr>
          <a:lstStyle/>
          <a:p>
            <a:pPr algn="ctr">
              <a:lnSpc>
                <a:spcPct val="115000"/>
              </a:lnSpc>
            </a:pPr>
            <a:r>
              <a:rPr sz="1800" b="1">
                <a:solidFill>
                  <a:srgbClr val="FFFFFF"/>
                </a:solidFill>
                <a:latin typeface="Segoe UI"/>
              </a:rPr>
              <a:t>Happy2Help erxes API plugin</a:t>
            </a:r>
          </a:p>
          <a:p>
            <a:pPr algn="ctr">
              <a:lnSpc>
                <a:spcPct val="115000"/>
              </a:lnSpc>
            </a:pPr>
            <a:r>
              <a:rPr sz="1800" b="1">
                <a:solidFill>
                  <a:srgbClr val="FFFFFF"/>
                </a:solidFill>
                <a:latin typeface="Segoe UI"/>
              </a:rPr>
              <a:t>Federation 2 · tenant/сургууль/үүрэг/кейс эрх</a:t>
            </a:r>
          </a:p>
        </p:txBody>
      </p:sp>
      <p:sp>
        <p:nvSpPr>
          <p:cNvPr id="16" name="TextBox 15"/>
          <p:cNvSpPr txBox="1"/>
          <p:nvPr/>
        </p:nvSpPr>
        <p:spPr>
          <a:xfrm>
            <a:off x="7493000" y="3873500"/>
            <a:ext cx="3683000" cy="254000"/>
          </a:xfrm>
          <a:prstGeom prst="rect">
            <a:avLst/>
          </a:prstGeom>
          <a:noFill/>
        </p:spPr>
        <p:txBody>
          <a:bodyPr wrap="square" lIns="0" rIns="0" tIns="0" bIns="0" anchor="t">
            <a:spAutoFit/>
          </a:bodyPr>
          <a:lstStyle/>
          <a:p>
            <a:pPr algn="ctr">
              <a:lnSpc>
                <a:spcPct val="115000"/>
              </a:lnSpc>
            </a:pPr>
            <a:r>
              <a:rPr sz="2100" b="1">
                <a:solidFill>
                  <a:srgbClr val="5B9CFF"/>
                </a:solidFill>
                <a:latin typeface="Segoe UI"/>
              </a:rPr>
              <a:t>↓</a:t>
            </a:r>
          </a:p>
        </p:txBody>
      </p:sp>
      <p:sp>
        <p:nvSpPr>
          <p:cNvPr id="17" name="Rounded Rectangle 16"/>
          <p:cNvSpPr/>
          <p:nvPr/>
        </p:nvSpPr>
        <p:spPr>
          <a:xfrm>
            <a:off x="7493000" y="4127500"/>
            <a:ext cx="3683000" cy="571500"/>
          </a:xfrm>
          <a:prstGeom prst="roundRect">
            <a:avLst>
              <a:gd name="adj" fmla="val 20000"/>
            </a:avLst>
          </a:prstGeom>
          <a:solidFill>
            <a:srgbClr val="123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3000" y="4127500"/>
            <a:ext cx="3683000" cy="571500"/>
          </a:xfrm>
          <a:prstGeom prst="rect">
            <a:avLst/>
          </a:prstGeom>
          <a:noFill/>
        </p:spPr>
        <p:txBody>
          <a:bodyPr wrap="square" lIns="0" rIns="0" tIns="0" bIns="0" anchor="ctr">
            <a:spAutoFit/>
          </a:bodyPr>
          <a:lstStyle/>
          <a:p>
            <a:pPr algn="ctr">
              <a:lnSpc>
                <a:spcPct val="115000"/>
              </a:lnSpc>
            </a:pPr>
            <a:r>
              <a:rPr sz="1800" b="1">
                <a:solidFill>
                  <a:srgbClr val="FFFFFF"/>
                </a:solidFill>
                <a:latin typeface="Segoe UI"/>
              </a:rPr>
              <a:t>MongoDB · Redis бүртгэл · Gemma 4 (async)</a:t>
            </a:r>
          </a:p>
        </p:txBody>
      </p:sp>
      <p:sp>
        <p:nvSpPr>
          <p:cNvPr id="19" name="TextBox 18"/>
          <p:cNvSpPr txBox="1"/>
          <p:nvPr/>
        </p:nvSpPr>
        <p:spPr>
          <a:xfrm>
            <a:off x="1016000" y="5334000"/>
            <a:ext cx="10160000" cy="762000"/>
          </a:xfrm>
          <a:prstGeom prst="rect">
            <a:avLst/>
          </a:prstGeom>
          <a:noFill/>
        </p:spPr>
        <p:txBody>
          <a:bodyPr wrap="square" lIns="0" rIns="0" tIns="0" bIns="0" anchor="t">
            <a:spAutoFit/>
          </a:bodyPr>
          <a:lstStyle/>
          <a:p>
            <a:pPr algn="l">
              <a:lnSpc>
                <a:spcPct val="140000"/>
              </a:lnSpc>
            </a:pPr>
            <a:r>
              <a:rPr sz="1425" b="0">
                <a:solidFill>
                  <a:srgbClr val="8FA3BC"/>
                </a:solidFill>
                <a:latin typeface="Segoe UI"/>
              </a:rPr>
              <a:t>Шударгаар: локал тестийн үр дүн · production яаралтай үйлчилгээ биш · erxes gateway / Core UI холболт хүлээгдэж байна · AI санал хүн шалгана, хязгаартай байж болно · бүх өгөгдөл зохиомол</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952500"/>
            <a:ext cx="7620000" cy="1143000"/>
          </a:xfrm>
          <a:prstGeom prst="rect">
            <a:avLst/>
          </a:prstGeom>
          <a:noFill/>
        </p:spPr>
        <p:txBody>
          <a:bodyPr wrap="square" lIns="0" rIns="0" tIns="0" bIns="0" anchor="t">
            <a:spAutoFit/>
          </a:bodyPr>
          <a:lstStyle/>
          <a:p>
            <a:pPr algn="l">
              <a:lnSpc>
                <a:spcPct val="120000"/>
              </a:lnSpc>
            </a:pPr>
            <a:r>
              <a:rPr sz="4050" b="0">
                <a:solidFill>
                  <a:srgbClr val="173153"/>
                </a:solidFill>
                <a:latin typeface="Segoe UI"/>
              </a:rPr>
              <a:t>Хэн нэгэн сонсоход</a:t>
            </a:r>
          </a:p>
          <a:p>
            <a:pPr algn="l">
              <a:lnSpc>
                <a:spcPct val="120000"/>
              </a:lnSpc>
            </a:pPr>
            <a:r>
              <a:rPr sz="4050" b="0">
                <a:solidFill>
                  <a:srgbClr val="173153"/>
                </a:solidFill>
                <a:latin typeface="Segoe UI"/>
              </a:rPr>
              <a:t>бүх зүйл өөрчлөгдөж эхэлдэг.</a:t>
            </a:r>
          </a:p>
        </p:txBody>
      </p:sp>
      <p:sp>
        <p:nvSpPr>
          <p:cNvPr id="3" name="TextBox 2"/>
          <p:cNvSpPr txBox="1"/>
          <p:nvPr/>
        </p:nvSpPr>
        <p:spPr>
          <a:xfrm>
            <a:off x="1016000" y="2667000"/>
            <a:ext cx="7620000" cy="698500"/>
          </a:xfrm>
          <a:prstGeom prst="rect">
            <a:avLst/>
          </a:prstGeom>
          <a:noFill/>
        </p:spPr>
        <p:txBody>
          <a:bodyPr wrap="square" lIns="0" rIns="0" tIns="0" bIns="0" anchor="t">
            <a:spAutoFit/>
          </a:bodyPr>
          <a:lstStyle/>
          <a:p>
            <a:pPr algn="l">
              <a:lnSpc>
                <a:spcPct val="115000"/>
              </a:lnSpc>
            </a:pPr>
            <a:r>
              <a:rPr sz="5400" b="1">
                <a:solidFill>
                  <a:srgbClr val="0F2D5B"/>
                </a:solidFill>
                <a:latin typeface="Segoe UI"/>
              </a:rPr>
              <a:t>Хүүхэд бүр сонсогдох эрхтэй.</a:t>
            </a:r>
          </a:p>
        </p:txBody>
      </p:sp>
      <p:pic>
        <p:nvPicPr>
          <p:cNvPr id="4" name="Picture 3" descr="wordmark.png"/>
          <p:cNvPicPr>
            <a:picLocks noChangeAspect="1"/>
          </p:cNvPicPr>
          <p:nvPr/>
        </p:nvPicPr>
        <p:blipFill>
          <a:blip r:embed="rId2"/>
          <a:stretch>
            <a:fillRect/>
          </a:stretch>
        </p:blipFill>
        <p:spPr>
          <a:xfrm>
            <a:off x="1021184" y="3810000"/>
            <a:ext cx="3545633" cy="1206500"/>
          </a:xfrm>
          <a:prstGeom prst="rect">
            <a:avLst/>
          </a:prstGeom>
        </p:spPr>
      </p:pic>
      <p:pic>
        <p:nvPicPr>
          <p:cNvPr id="5" name="Picture 4" descr="mascot.png"/>
          <p:cNvPicPr>
            <a:picLocks noChangeAspect="1"/>
          </p:cNvPicPr>
          <p:nvPr/>
        </p:nvPicPr>
        <p:blipFill>
          <a:blip r:embed="rId3"/>
          <a:stretch>
            <a:fillRect/>
          </a:stretch>
        </p:blipFill>
        <p:spPr>
          <a:xfrm>
            <a:off x="8447154" y="1905000"/>
            <a:ext cx="2790692" cy="3225800"/>
          </a:xfrm>
          <a:prstGeom prst="rect">
            <a:avLst/>
          </a:prstGeom>
        </p:spPr>
      </p:pic>
      <p:sp>
        <p:nvSpPr>
          <p:cNvPr id="6" name="TextBox 5"/>
          <p:cNvSpPr txBox="1"/>
          <p:nvPr/>
        </p:nvSpPr>
        <p:spPr>
          <a:xfrm>
            <a:off x="1016000" y="5334000"/>
            <a:ext cx="5715000" cy="254000"/>
          </a:xfrm>
          <a:prstGeom prst="rect">
            <a:avLst/>
          </a:prstGeom>
          <a:noFill/>
        </p:spPr>
        <p:txBody>
          <a:bodyPr wrap="square" lIns="0" rIns="0" tIns="0" bIns="0" anchor="t">
            <a:spAutoFit/>
          </a:bodyPr>
          <a:lstStyle/>
          <a:p>
            <a:pPr algn="l">
              <a:lnSpc>
                <a:spcPct val="115000"/>
              </a:lnSpc>
            </a:pPr>
            <a:r>
              <a:rPr sz="1800" b="0">
                <a:solidFill>
                  <a:srgbClr val="8FA3BC"/>
                </a:solidFill>
                <a:latin typeface="Segoe UI"/>
              </a:rPr>
              <a:t>Built with care by ZEVQORA.</a:t>
            </a:r>
          </a:p>
        </p:txBody>
      </p:sp>
      <p:sp>
        <p:nvSpPr>
          <p:cNvPr id="7" name="TextBox 6"/>
          <p:cNvSpPr txBox="1"/>
          <p:nvPr/>
        </p:nvSpPr>
        <p:spPr>
          <a:xfrm>
            <a:off x="1016000" y="5651500"/>
            <a:ext cx="5715000" cy="317500"/>
          </a:xfrm>
          <a:prstGeom prst="rect">
            <a:avLst/>
          </a:prstGeom>
          <a:noFill/>
        </p:spPr>
        <p:txBody>
          <a:bodyPr wrap="square" lIns="0" rIns="0" tIns="0" bIns="0" anchor="t">
            <a:spAutoFit/>
          </a:bodyPr>
          <a:lstStyle/>
          <a:p>
            <a:pPr algn="l">
              <a:lnSpc>
                <a:spcPct val="115000"/>
              </a:lnSpc>
            </a:pPr>
            <a:r>
              <a:rPr sz="2250" b="1">
                <a:solidFill>
                  <a:srgbClr val="2D67B5"/>
                </a:solidFill>
                <a:latin typeface="Segoe UI"/>
              </a:rPr>
              <a:t>See it. Signal safely. Get help.</a:t>
            </a:r>
          </a:p>
        </p:txBody>
      </p:sp>
      <p:sp>
        <p:nvSpPr>
          <p:cNvPr id="8" name="TextBox 7"/>
          <p:cNvSpPr txBox="1"/>
          <p:nvPr/>
        </p:nvSpPr>
        <p:spPr>
          <a:xfrm>
            <a:off x="1016000" y="6286500"/>
            <a:ext cx="10160000" cy="254000"/>
          </a:xfrm>
          <a:prstGeom prst="rect">
            <a:avLst/>
          </a:prstGeom>
          <a:noFill/>
        </p:spPr>
        <p:txBody>
          <a:bodyPr wrap="square" lIns="0" rIns="0" tIns="0" bIns="0" anchor="t">
            <a:spAutoFit/>
          </a:bodyPr>
          <a:lstStyle/>
          <a:p>
            <a:pPr algn="l">
              <a:lnSpc>
                <a:spcPct val="115000"/>
              </a:lnSpc>
            </a:pPr>
            <a:r>
              <a:rPr sz="1350" b="0">
                <a:solidFill>
                  <a:srgbClr val="8FA3BC"/>
                </a:solidFill>
                <a:latin typeface="Segoe UI"/>
              </a:rPr>
              <a:t>github.com/BeBecpp/Happy2Help_Hackathon · AGPL-3.0 · Hacktoberfest Hack Day Ulaanbaatar × erxes Hub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